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92" r:id="rId1"/>
  </p:sldMasterIdLst>
  <p:notesMasterIdLst>
    <p:notesMasterId r:id="rId25"/>
  </p:notesMasterIdLst>
  <p:sldIdLst>
    <p:sldId id="294" r:id="rId2"/>
    <p:sldId id="283" r:id="rId3"/>
    <p:sldId id="264" r:id="rId4"/>
    <p:sldId id="265" r:id="rId5"/>
    <p:sldId id="266" r:id="rId6"/>
    <p:sldId id="267" r:id="rId7"/>
    <p:sldId id="268" r:id="rId8"/>
    <p:sldId id="288" r:id="rId9"/>
    <p:sldId id="291" r:id="rId10"/>
    <p:sldId id="292" r:id="rId11"/>
    <p:sldId id="287" r:id="rId12"/>
    <p:sldId id="293" r:id="rId13"/>
    <p:sldId id="296" r:id="rId14"/>
    <p:sldId id="297" r:id="rId15"/>
    <p:sldId id="269" r:id="rId16"/>
    <p:sldId id="270" r:id="rId17"/>
    <p:sldId id="271" r:id="rId18"/>
    <p:sldId id="272" r:id="rId19"/>
    <p:sldId id="295" r:id="rId20"/>
    <p:sldId id="274" r:id="rId21"/>
    <p:sldId id="275" r:id="rId22"/>
    <p:sldId id="277" r:id="rId23"/>
    <p:sldId id="278" r:id="rId24"/>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ibNK/i+eKkVDz7Nf2scPdBNilO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1A779130-216F-43D0-9892-934905F2A845}">
  <a:tblStyle styleId="{1A779130-216F-43D0-9892-934905F2A84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1" d="100"/>
          <a:sy n="51" d="100"/>
        </p:scale>
        <p:origin x="-45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13585848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8c610b2f8a_1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g38c610b2f8a_1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a9904db456_1_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6" name="Google Shape;256;g3a9904db456_1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a9904db456_1_1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9" name="Google Shape;269;g3a9904db456_1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a9904db456_1_1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2" name="Google Shape;282;g3a9904db456_1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3a9904db456_1_2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5" name="Google Shape;295;g3a9904db456_1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a9904db456_1_2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8" name="Google Shape;308;g3a9904db456_1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9cc3c61c01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9cc3c61c0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9cc3c61c01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9cc3c61c0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9cc3c61c01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9cc3c61c0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9cc3c61c01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9cc3c61c0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9cc3c61c01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g39cc3c61c01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a9904db456_1_2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1" name="Google Shape;321;g3a9904db456_1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a9904db456_1_2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4" name="Google Shape;334;g3a9904db456_1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a9904db456_1_2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7" name="Google Shape;347;g3a9904db456_1_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a9904db456_1_2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0" name="Google Shape;360;g3a9904db456_1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3a9904db456_1_2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6" name="Google Shape;386;g3a9904db456_1_2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a9904db456_1_2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9" name="Google Shape;399;g3a9904db456_1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a9904db456_1_3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5" name="Google Shape;425;g3a9904db456_1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a9904db456_1_3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8" name="Google Shape;438;g3a9904db456_1_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1005840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9" name="Rectangle 18"/>
          <p:cNvSpPr>
            <a:spLocks noChangeArrowheads="1"/>
          </p:cNvSpPr>
          <p:nvPr/>
        </p:nvSpPr>
        <p:spPr bwMode="white">
          <a:xfrm>
            <a:off x="17983200" y="4572"/>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8" name="Rectangle 17"/>
          <p:cNvSpPr>
            <a:spLocks noChangeArrowheads="1"/>
          </p:cNvSpPr>
          <p:nvPr/>
        </p:nvSpPr>
        <p:spPr bwMode="white">
          <a:xfrm>
            <a:off x="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6" name="Rectangle 15"/>
          <p:cNvSpPr>
            <a:spLocks noChangeArrowheads="1"/>
          </p:cNvSpPr>
          <p:nvPr/>
        </p:nvSpPr>
        <p:spPr bwMode="white">
          <a:xfrm>
            <a:off x="0" y="0"/>
            <a:ext cx="18288000" cy="37719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2" name="Rectangle 11"/>
          <p:cNvSpPr>
            <a:spLocks noChangeArrowheads="1"/>
          </p:cNvSpPr>
          <p:nvPr/>
        </p:nvSpPr>
        <p:spPr bwMode="auto">
          <a:xfrm>
            <a:off x="292608" y="9587485"/>
            <a:ext cx="17666208" cy="464345"/>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9" name="Subtitle 8"/>
          <p:cNvSpPr>
            <a:spLocks noGrp="1"/>
          </p:cNvSpPr>
          <p:nvPr>
            <p:ph type="subTitle" idx="1"/>
          </p:nvPr>
        </p:nvSpPr>
        <p:spPr>
          <a:xfrm>
            <a:off x="2743200" y="4229100"/>
            <a:ext cx="12801600" cy="2628900"/>
          </a:xfrm>
        </p:spPr>
        <p:txBody>
          <a:bodyPr/>
          <a:lstStyle>
            <a:lvl1pPr marL="0" indent="0" algn="ctr">
              <a:buNone/>
              <a:defRPr sz="2900" b="1" cap="all" spc="446" baseline="0">
                <a:solidFill>
                  <a:schemeClr val="tx2"/>
                </a:solidFill>
              </a:defRPr>
            </a:lvl1pPr>
            <a:lvl2pPr marL="816422" indent="0" algn="ctr">
              <a:buNone/>
            </a:lvl2pPr>
            <a:lvl3pPr marL="1632844" indent="0" algn="ctr">
              <a:buNone/>
            </a:lvl3pPr>
            <a:lvl4pPr marL="2449266" indent="0" algn="ctr">
              <a:buNone/>
            </a:lvl4pPr>
            <a:lvl5pPr marL="3265688" indent="0" algn="ctr">
              <a:buNone/>
            </a:lvl5pPr>
            <a:lvl6pPr marL="4082110" indent="0" algn="ctr">
              <a:buNone/>
            </a:lvl6pPr>
            <a:lvl7pPr marL="4898532" indent="0" algn="ctr">
              <a:buNone/>
            </a:lvl7pPr>
            <a:lvl8pPr marL="5714954" indent="0" algn="ctr">
              <a:buNone/>
            </a:lvl8pPr>
            <a:lvl9pPr marL="6531376"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endParaRPr lang="en-IN"/>
          </a:p>
        </p:txBody>
      </p:sp>
      <p:sp>
        <p:nvSpPr>
          <p:cNvPr id="17" name="Footer Placeholder 16"/>
          <p:cNvSpPr>
            <a:spLocks noGrp="1"/>
          </p:cNvSpPr>
          <p:nvPr>
            <p:ph type="ftr" sz="quarter" idx="11"/>
          </p:nvPr>
        </p:nvSpPr>
        <p:spPr/>
        <p:txBody>
          <a:bodyPr/>
          <a:lstStyle/>
          <a:p>
            <a:endParaRPr lang="en-IN"/>
          </a:p>
        </p:txBody>
      </p:sp>
      <p:sp>
        <p:nvSpPr>
          <p:cNvPr id="7" name="Straight Connector 6"/>
          <p:cNvSpPr>
            <a:spLocks noChangeShapeType="1"/>
          </p:cNvSpPr>
          <p:nvPr/>
        </p:nvSpPr>
        <p:spPr bwMode="auto">
          <a:xfrm>
            <a:off x="310896" y="3630168"/>
            <a:ext cx="1766620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63284" tIns="81642" rIns="163284" bIns="81642" anchor="ctr" compatLnSpc="1"/>
          <a:lstStyle/>
          <a:p>
            <a:endParaRPr kumimoji="0" lang="en-US"/>
          </a:p>
        </p:txBody>
      </p:sp>
      <p:sp>
        <p:nvSpPr>
          <p:cNvPr id="10" name="Rectangle 9"/>
          <p:cNvSpPr>
            <a:spLocks noChangeArrowheads="1"/>
          </p:cNvSpPr>
          <p:nvPr/>
        </p:nvSpPr>
        <p:spPr bwMode="auto">
          <a:xfrm>
            <a:off x="304800" y="228600"/>
            <a:ext cx="17666208" cy="9820656"/>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63284" tIns="81642" rIns="163284" bIns="81642" anchor="ctr" compatLnSpc="1"/>
          <a:lstStyle/>
          <a:p>
            <a:endParaRPr kumimoji="0" lang="en-US" dirty="0"/>
          </a:p>
        </p:txBody>
      </p:sp>
      <p:sp>
        <p:nvSpPr>
          <p:cNvPr id="13" name="Oval 12"/>
          <p:cNvSpPr/>
          <p:nvPr/>
        </p:nvSpPr>
        <p:spPr>
          <a:xfrm>
            <a:off x="8534400" y="3172968"/>
            <a:ext cx="1219200" cy="9144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14" name="Oval 13"/>
          <p:cNvSpPr/>
          <p:nvPr/>
        </p:nvSpPr>
        <p:spPr>
          <a:xfrm>
            <a:off x="8723376" y="3314700"/>
            <a:ext cx="841248" cy="63093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29" name="Slide Number Placeholder 28"/>
          <p:cNvSpPr>
            <a:spLocks noGrp="1"/>
          </p:cNvSpPr>
          <p:nvPr>
            <p:ph type="sldNum" sz="quarter" idx="12"/>
          </p:nvPr>
        </p:nvSpPr>
        <p:spPr>
          <a:xfrm>
            <a:off x="8686800" y="3299176"/>
            <a:ext cx="914400" cy="661988"/>
          </a:xfrm>
        </p:spPr>
        <p:txBody>
          <a:bodyPr/>
          <a:lstStyle>
            <a:lvl1pPr>
              <a:defRPr>
                <a:solidFill>
                  <a:schemeClr val="accent3">
                    <a:shade val="75000"/>
                  </a:schemeClr>
                </a:solidFill>
              </a:defRPr>
            </a:lvl1pPr>
          </a:lstStyle>
          <a:p>
            <a:pPr algn="r"/>
            <a:fld id="{00000000-1234-1234-1234-123412341234}" type="slidenum">
              <a:rPr lang="en-US" smtClean="0"/>
              <a:pPr algn="r"/>
              <a:t>‹#›</a:t>
            </a:fld>
            <a:endParaRPr lang="en-US"/>
          </a:p>
        </p:txBody>
      </p:sp>
      <p:sp>
        <p:nvSpPr>
          <p:cNvPr id="8" name="Title 7"/>
          <p:cNvSpPr>
            <a:spLocks noGrp="1"/>
          </p:cNvSpPr>
          <p:nvPr>
            <p:ph type="ctrTitle"/>
          </p:nvPr>
        </p:nvSpPr>
        <p:spPr>
          <a:xfrm>
            <a:off x="1371600" y="571500"/>
            <a:ext cx="15544800" cy="2628900"/>
          </a:xfrm>
        </p:spPr>
        <p:txBody>
          <a:bodyPr anchor="b"/>
          <a:lstStyle>
            <a:lvl1pPr>
              <a:defRPr sz="75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8723376" y="1539558"/>
            <a:ext cx="914400" cy="661988"/>
          </a:xfrm>
        </p:spPr>
        <p:txBody>
          <a:bodyPr/>
          <a:lstStyle/>
          <a:p>
            <a:pPr algn="r"/>
            <a:fld id="{00000000-1234-1234-1234-123412341234}" type="slidenum">
              <a:rPr lang="en-US" smtClean="0"/>
              <a:pPr algn="r"/>
              <a:t>‹#›</a:t>
            </a:fld>
            <a:endParaRPr lang="en-US"/>
          </a:p>
        </p:txBody>
      </p:sp>
      <p:sp>
        <p:nvSpPr>
          <p:cNvPr id="8" name="Content Placeholder 7"/>
          <p:cNvSpPr>
            <a:spLocks noGrp="1"/>
          </p:cNvSpPr>
          <p:nvPr>
            <p:ph sz="quarter" idx="1"/>
          </p:nvPr>
        </p:nvSpPr>
        <p:spPr>
          <a:xfrm>
            <a:off x="603504" y="2290572"/>
            <a:ext cx="17007840" cy="6858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5" name="Rectangle 14"/>
          <p:cNvSpPr>
            <a:spLocks noChangeArrowheads="1"/>
          </p:cNvSpPr>
          <p:nvPr/>
        </p:nvSpPr>
        <p:spPr bwMode="white">
          <a:xfrm>
            <a:off x="0" y="1005840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6" name="Rectangle 15"/>
          <p:cNvSpPr>
            <a:spLocks noChangeArrowheads="1"/>
          </p:cNvSpPr>
          <p:nvPr/>
        </p:nvSpPr>
        <p:spPr bwMode="white">
          <a:xfrm>
            <a:off x="0" y="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8" name="Rectangle 17"/>
          <p:cNvSpPr>
            <a:spLocks noChangeArrowheads="1"/>
          </p:cNvSpPr>
          <p:nvPr/>
        </p:nvSpPr>
        <p:spPr bwMode="white">
          <a:xfrm>
            <a:off x="17983200" y="28575"/>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9" name="Rectangle 18"/>
          <p:cNvSpPr>
            <a:spLocks noChangeArrowheads="1"/>
          </p:cNvSpPr>
          <p:nvPr/>
        </p:nvSpPr>
        <p:spPr bwMode="white">
          <a:xfrm>
            <a:off x="304800" y="3429000"/>
            <a:ext cx="17666208" cy="457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2" name="Rectangle 11"/>
          <p:cNvSpPr>
            <a:spLocks noChangeArrowheads="1"/>
          </p:cNvSpPr>
          <p:nvPr/>
        </p:nvSpPr>
        <p:spPr bwMode="auto">
          <a:xfrm>
            <a:off x="310896" y="213528"/>
            <a:ext cx="17666208" cy="3209544"/>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3" name="Text Placeholder 2"/>
          <p:cNvSpPr>
            <a:spLocks noGrp="1"/>
          </p:cNvSpPr>
          <p:nvPr>
            <p:ph type="body" idx="1"/>
          </p:nvPr>
        </p:nvSpPr>
        <p:spPr>
          <a:xfrm>
            <a:off x="2736852" y="4114800"/>
            <a:ext cx="12960348" cy="2509838"/>
          </a:xfrm>
        </p:spPr>
        <p:txBody>
          <a:bodyPr anchor="t"/>
          <a:lstStyle>
            <a:lvl1pPr marL="0" indent="0" algn="ctr">
              <a:buNone/>
              <a:defRPr sz="2900" b="1" cap="all" spc="446" baseline="0">
                <a:solidFill>
                  <a:schemeClr val="tx2"/>
                </a:solidFill>
              </a:defRPr>
            </a:lvl1pPr>
            <a:lvl2pPr>
              <a:buNone/>
              <a:defRPr sz="3200">
                <a:solidFill>
                  <a:schemeClr val="tx1">
                    <a:tint val="75000"/>
                  </a:schemeClr>
                </a:solidFill>
              </a:defRPr>
            </a:lvl2pPr>
            <a:lvl3pPr>
              <a:buNone/>
              <a:defRPr sz="2900">
                <a:solidFill>
                  <a:schemeClr val="tx1">
                    <a:tint val="75000"/>
                  </a:schemeClr>
                </a:solidFill>
              </a:defRPr>
            </a:lvl3pPr>
            <a:lvl4pPr>
              <a:buNone/>
              <a:defRPr sz="2500">
                <a:solidFill>
                  <a:schemeClr val="tx1">
                    <a:tint val="75000"/>
                  </a:schemeClr>
                </a:solidFill>
              </a:defRPr>
            </a:lvl4pPr>
            <a:lvl5pPr>
              <a:buNone/>
              <a:defRPr sz="25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292608" y="9587485"/>
            <a:ext cx="17666208" cy="464345"/>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4" name="Rectangle 13"/>
          <p:cNvSpPr>
            <a:spLocks noChangeArrowheads="1"/>
          </p:cNvSpPr>
          <p:nvPr/>
        </p:nvSpPr>
        <p:spPr bwMode="auto">
          <a:xfrm>
            <a:off x="304800" y="228600"/>
            <a:ext cx="17666208" cy="9820656"/>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63284" tIns="81642" rIns="163284" bIns="81642" anchor="ctr" compatLnSpc="1"/>
          <a:lstStyle/>
          <a:p>
            <a:endParaRPr kumimoji="0"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endParaRPr lang="en-IN"/>
          </a:p>
        </p:txBody>
      </p:sp>
      <p:sp>
        <p:nvSpPr>
          <p:cNvPr id="8" name="Straight Connector 7"/>
          <p:cNvSpPr>
            <a:spLocks noChangeShapeType="1"/>
          </p:cNvSpPr>
          <p:nvPr/>
        </p:nvSpPr>
        <p:spPr bwMode="auto">
          <a:xfrm>
            <a:off x="304800" y="3657600"/>
            <a:ext cx="1766620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63284" tIns="81642" rIns="163284" bIns="81642" anchor="ctr" compatLnSpc="1"/>
          <a:lstStyle/>
          <a:p>
            <a:endParaRPr kumimoji="0" lang="en-US"/>
          </a:p>
        </p:txBody>
      </p:sp>
      <p:sp>
        <p:nvSpPr>
          <p:cNvPr id="10" name="Oval 9"/>
          <p:cNvSpPr/>
          <p:nvPr/>
        </p:nvSpPr>
        <p:spPr>
          <a:xfrm>
            <a:off x="8534400" y="3172968"/>
            <a:ext cx="1219200" cy="9144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11" name="Oval 10"/>
          <p:cNvSpPr/>
          <p:nvPr/>
        </p:nvSpPr>
        <p:spPr>
          <a:xfrm>
            <a:off x="8723376" y="3314700"/>
            <a:ext cx="841248" cy="63093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6" name="Slide Number Placeholder 5"/>
          <p:cNvSpPr>
            <a:spLocks noGrp="1"/>
          </p:cNvSpPr>
          <p:nvPr>
            <p:ph type="sldNum" sz="quarter" idx="12"/>
          </p:nvPr>
        </p:nvSpPr>
        <p:spPr>
          <a:xfrm>
            <a:off x="8686800" y="3299176"/>
            <a:ext cx="914400" cy="661988"/>
          </a:xfrm>
        </p:spPr>
        <p:txBody>
          <a:bodyPr/>
          <a:lstStyle>
            <a:lvl1pPr>
              <a:defRPr>
                <a:solidFill>
                  <a:schemeClr val="accent3">
                    <a:shade val="75000"/>
                  </a:schemeClr>
                </a:solidFill>
              </a:defRPr>
            </a:lvl1pPr>
          </a:lstStyle>
          <a:p>
            <a:pPr algn="r"/>
            <a:fld id="{00000000-1234-1234-1234-123412341234}" type="slidenum">
              <a:rPr lang="en-US" smtClean="0"/>
              <a:pPr algn="r"/>
              <a:t>‹#›</a:t>
            </a:fld>
            <a:endParaRPr lang="en-US"/>
          </a:p>
        </p:txBody>
      </p:sp>
      <p:sp>
        <p:nvSpPr>
          <p:cNvPr id="2" name="Title 1"/>
          <p:cNvSpPr>
            <a:spLocks noGrp="1"/>
          </p:cNvSpPr>
          <p:nvPr>
            <p:ph type="title"/>
          </p:nvPr>
        </p:nvSpPr>
        <p:spPr>
          <a:xfrm>
            <a:off x="1444626" y="800100"/>
            <a:ext cx="15544800" cy="2286000"/>
          </a:xfrm>
        </p:spPr>
        <p:txBody>
          <a:bodyPr anchor="b"/>
          <a:lstStyle>
            <a:lvl1pPr algn="ctr">
              <a:buNone/>
              <a:defRPr sz="75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342900"/>
            <a:ext cx="17068800" cy="1138428"/>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11582400" y="9614916"/>
            <a:ext cx="6089904" cy="548640"/>
          </a:xfrm>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algn="r"/>
            <a:fld id="{00000000-1234-1234-1234-123412341234}" type="slidenum">
              <a:rPr lang="en-US" smtClean="0"/>
              <a:pPr algn="r"/>
              <a:t>‹#›</a:t>
            </a:fld>
            <a:endParaRPr lang="en-US"/>
          </a:p>
        </p:txBody>
      </p:sp>
      <p:sp>
        <p:nvSpPr>
          <p:cNvPr id="8" name="Straight Connector 7"/>
          <p:cNvSpPr>
            <a:spLocks noChangeShapeType="1"/>
          </p:cNvSpPr>
          <p:nvPr/>
        </p:nvSpPr>
        <p:spPr bwMode="auto">
          <a:xfrm flipV="1">
            <a:off x="9126161" y="2363479"/>
            <a:ext cx="17842" cy="7229336"/>
          </a:xfrm>
          <a:prstGeom prst="line">
            <a:avLst/>
          </a:prstGeom>
          <a:noFill/>
          <a:ln w="9525" cap="flat" cmpd="sng" algn="ctr">
            <a:solidFill>
              <a:schemeClr val="tx2"/>
            </a:solidFill>
            <a:prstDash val="sysDash"/>
            <a:round/>
            <a:headEnd type="none" w="med" len="med"/>
            <a:tailEnd type="none" w="med" len="med"/>
          </a:ln>
          <a:effectLst/>
        </p:spPr>
        <p:txBody>
          <a:bodyPr vert="horz" wrap="none" lIns="163284" tIns="81642" rIns="163284" bIns="81642" anchor="ctr" compatLnSpc="1"/>
          <a:lstStyle/>
          <a:p>
            <a:endParaRPr kumimoji="0" lang="en-US"/>
          </a:p>
        </p:txBody>
      </p:sp>
      <p:sp>
        <p:nvSpPr>
          <p:cNvPr id="10" name="Content Placeholder 9"/>
          <p:cNvSpPr>
            <a:spLocks noGrp="1"/>
          </p:cNvSpPr>
          <p:nvPr>
            <p:ph sz="half" idx="1"/>
          </p:nvPr>
        </p:nvSpPr>
        <p:spPr>
          <a:xfrm>
            <a:off x="603504" y="2057400"/>
            <a:ext cx="8077200" cy="7022592"/>
          </a:xfrm>
        </p:spPr>
        <p:txBody>
          <a:bodyPr/>
          <a:lstStyle>
            <a:lvl1pPr>
              <a:defRPr sz="4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9601200" y="2057400"/>
            <a:ext cx="8077200" cy="7022592"/>
          </a:xfrm>
        </p:spPr>
        <p:txBody>
          <a:bodyPr/>
          <a:lstStyle>
            <a:lvl1pPr>
              <a:defRPr sz="4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9144000" y="3300413"/>
            <a:ext cx="0" cy="6281928"/>
          </a:xfrm>
          <a:prstGeom prst="line">
            <a:avLst/>
          </a:prstGeom>
          <a:noFill/>
          <a:ln w="9525" cap="flat" cmpd="sng" algn="ctr">
            <a:solidFill>
              <a:schemeClr val="tx2"/>
            </a:solidFill>
            <a:prstDash val="sysDash"/>
            <a:round/>
            <a:headEnd type="none" w="med" len="med"/>
            <a:tailEnd type="none" w="med" len="med"/>
          </a:ln>
          <a:effectLst/>
        </p:spPr>
        <p:txBody>
          <a:bodyPr vert="horz" wrap="none" lIns="163284" tIns="81642" rIns="163284" bIns="81642" anchor="ctr" compatLnSpc="1"/>
          <a:lstStyle/>
          <a:p>
            <a:endParaRPr kumimoji="0" lang="en-US"/>
          </a:p>
        </p:txBody>
      </p:sp>
      <p:sp>
        <p:nvSpPr>
          <p:cNvPr id="20" name="Rectangle 19"/>
          <p:cNvSpPr>
            <a:spLocks noChangeArrowheads="1"/>
          </p:cNvSpPr>
          <p:nvPr/>
        </p:nvSpPr>
        <p:spPr bwMode="white">
          <a:xfrm>
            <a:off x="0" y="0"/>
            <a:ext cx="18288000" cy="21717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9" name="Rectangle 18"/>
          <p:cNvSpPr>
            <a:spLocks noChangeArrowheads="1"/>
          </p:cNvSpPr>
          <p:nvPr/>
        </p:nvSpPr>
        <p:spPr bwMode="white">
          <a:xfrm>
            <a:off x="0" y="1005840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21" name="Rectangle 20"/>
          <p:cNvSpPr>
            <a:spLocks noChangeArrowheads="1"/>
          </p:cNvSpPr>
          <p:nvPr/>
        </p:nvSpPr>
        <p:spPr bwMode="white">
          <a:xfrm>
            <a:off x="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22" name="Rectangle 21"/>
          <p:cNvSpPr>
            <a:spLocks noChangeArrowheads="1"/>
          </p:cNvSpPr>
          <p:nvPr/>
        </p:nvSpPr>
        <p:spPr bwMode="white">
          <a:xfrm>
            <a:off x="1798320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1" name="Rectangle 10"/>
          <p:cNvSpPr/>
          <p:nvPr/>
        </p:nvSpPr>
        <p:spPr>
          <a:xfrm>
            <a:off x="304800" y="2057400"/>
            <a:ext cx="17666208" cy="13716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13" name="Rectangle 12"/>
          <p:cNvSpPr>
            <a:spLocks noChangeArrowheads="1"/>
          </p:cNvSpPr>
          <p:nvPr/>
        </p:nvSpPr>
        <p:spPr bwMode="auto">
          <a:xfrm>
            <a:off x="291846" y="9587484"/>
            <a:ext cx="17666208" cy="466344"/>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3" name="Text Placeholder 2"/>
          <p:cNvSpPr>
            <a:spLocks noGrp="1"/>
          </p:cNvSpPr>
          <p:nvPr>
            <p:ph type="body" idx="1"/>
          </p:nvPr>
        </p:nvSpPr>
        <p:spPr>
          <a:xfrm>
            <a:off x="603504" y="2286000"/>
            <a:ext cx="8080376" cy="1099461"/>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3900" b="1" dirty="0" smtClean="0">
                <a:solidFill>
                  <a:srgbClr val="FFFFFF"/>
                </a:solidFill>
              </a:defRPr>
            </a:lvl1pPr>
            <a:lvl2pPr>
              <a:buNone/>
              <a:defRPr sz="3600" b="1"/>
            </a:lvl2pPr>
            <a:lvl3pPr>
              <a:buNone/>
              <a:defRPr sz="3200" b="1"/>
            </a:lvl3pPr>
            <a:lvl4pPr>
              <a:buNone/>
              <a:defRPr sz="2900" b="1"/>
            </a:lvl4pPr>
            <a:lvl5pPr>
              <a:buNone/>
              <a:defRPr sz="29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9582661" y="2286000"/>
            <a:ext cx="8083550" cy="109728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3900" b="1"/>
            </a:lvl1pPr>
            <a:lvl2pPr>
              <a:buNone/>
              <a:defRPr sz="3600" b="1"/>
            </a:lvl2pPr>
            <a:lvl3pPr>
              <a:buNone/>
              <a:defRPr sz="3200" b="1"/>
            </a:lvl3pPr>
            <a:lvl4pPr>
              <a:buNone/>
              <a:defRPr sz="2900" b="1"/>
            </a:lvl4pPr>
            <a:lvl5pPr>
              <a:buNone/>
              <a:defRPr sz="29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a:xfrm>
            <a:off x="609600" y="9614916"/>
            <a:ext cx="7162800" cy="548640"/>
          </a:xfrm>
        </p:spPr>
        <p:txBody>
          <a:bodyPr/>
          <a:lstStyle/>
          <a:p>
            <a:endParaRPr lang="en-IN"/>
          </a:p>
        </p:txBody>
      </p:sp>
      <p:sp>
        <p:nvSpPr>
          <p:cNvPr id="15" name="Straight Connector 14"/>
          <p:cNvSpPr>
            <a:spLocks noChangeShapeType="1"/>
          </p:cNvSpPr>
          <p:nvPr/>
        </p:nvSpPr>
        <p:spPr bwMode="auto">
          <a:xfrm>
            <a:off x="304800" y="1920240"/>
            <a:ext cx="1766620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63284" tIns="81642" rIns="163284" bIns="81642" anchor="ctr" compatLnSpc="1"/>
          <a:lstStyle/>
          <a:p>
            <a:endParaRPr kumimoji="0" lang="en-US"/>
          </a:p>
        </p:txBody>
      </p:sp>
      <p:sp>
        <p:nvSpPr>
          <p:cNvPr id="18" name="Rectangle 17"/>
          <p:cNvSpPr>
            <a:spLocks noChangeArrowheads="1"/>
          </p:cNvSpPr>
          <p:nvPr/>
        </p:nvSpPr>
        <p:spPr bwMode="auto">
          <a:xfrm>
            <a:off x="304800" y="233172"/>
            <a:ext cx="17666208" cy="9820656"/>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63284" tIns="81642" rIns="163284" bIns="81642" anchor="ctr" compatLnSpc="1"/>
          <a:lstStyle/>
          <a:p>
            <a:endParaRPr kumimoji="0" lang="en-US" dirty="0"/>
          </a:p>
        </p:txBody>
      </p:sp>
      <p:sp>
        <p:nvSpPr>
          <p:cNvPr id="24" name="Content Placeholder 23"/>
          <p:cNvSpPr>
            <a:spLocks noGrp="1"/>
          </p:cNvSpPr>
          <p:nvPr>
            <p:ph sz="quarter" idx="2"/>
          </p:nvPr>
        </p:nvSpPr>
        <p:spPr>
          <a:xfrm>
            <a:off x="603504" y="3707074"/>
            <a:ext cx="8083296" cy="5727606"/>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9601200" y="3707075"/>
            <a:ext cx="8077200" cy="573328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8534400" y="1434054"/>
            <a:ext cx="1219200" cy="9144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27" name="Oval 26"/>
          <p:cNvSpPr/>
          <p:nvPr/>
        </p:nvSpPr>
        <p:spPr>
          <a:xfrm>
            <a:off x="8723376" y="1575786"/>
            <a:ext cx="841248" cy="63093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9" name="Slide Number Placeholder 8"/>
          <p:cNvSpPr>
            <a:spLocks noGrp="1"/>
          </p:cNvSpPr>
          <p:nvPr>
            <p:ph type="sldNum" sz="quarter" idx="12"/>
          </p:nvPr>
        </p:nvSpPr>
        <p:spPr>
          <a:xfrm>
            <a:off x="8686800" y="1563625"/>
            <a:ext cx="914400" cy="661988"/>
          </a:xfrm>
        </p:spPr>
        <p:txBody>
          <a:bodyPr/>
          <a:lstStyle>
            <a:lvl1pPr algn="ctr">
              <a:defRPr/>
            </a:lvl1pPr>
          </a:lstStyle>
          <a:p>
            <a:pPr algn="r"/>
            <a:fld id="{00000000-1234-1234-1234-123412341234}" type="slidenum">
              <a:rPr lang="en-US" smtClean="0"/>
              <a:pPr algn="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8686800" y="1554031"/>
            <a:ext cx="914400" cy="661988"/>
          </a:xfrm>
        </p:spPr>
        <p:txBody>
          <a:bodyPr/>
          <a:lstStyle/>
          <a:p>
            <a:pPr algn="r"/>
            <a:fld id="{00000000-1234-1234-1234-123412341234}" type="slidenum">
              <a:rPr lang="en-US" smtClean="0"/>
              <a:pPr algn="r"/>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1005840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8" name="Rectangle 7"/>
          <p:cNvSpPr>
            <a:spLocks noChangeArrowheads="1"/>
          </p:cNvSpPr>
          <p:nvPr/>
        </p:nvSpPr>
        <p:spPr bwMode="white">
          <a:xfrm>
            <a:off x="0" y="0"/>
            <a:ext cx="18288000" cy="2331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0" name="Rectangle 9"/>
          <p:cNvSpPr>
            <a:spLocks noChangeArrowheads="1"/>
          </p:cNvSpPr>
          <p:nvPr/>
        </p:nvSpPr>
        <p:spPr bwMode="white">
          <a:xfrm>
            <a:off x="1798320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9" name="Rectangle 8"/>
          <p:cNvSpPr>
            <a:spLocks noChangeArrowheads="1"/>
          </p:cNvSpPr>
          <p:nvPr/>
        </p:nvSpPr>
        <p:spPr bwMode="white">
          <a:xfrm>
            <a:off x="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5" name="Rectangle 4"/>
          <p:cNvSpPr>
            <a:spLocks noChangeArrowheads="1"/>
          </p:cNvSpPr>
          <p:nvPr/>
        </p:nvSpPr>
        <p:spPr bwMode="auto">
          <a:xfrm>
            <a:off x="292608" y="9587485"/>
            <a:ext cx="17666208" cy="464345"/>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6" name="Rectangle 5"/>
          <p:cNvSpPr>
            <a:spLocks noChangeArrowheads="1"/>
          </p:cNvSpPr>
          <p:nvPr/>
        </p:nvSpPr>
        <p:spPr bwMode="auto">
          <a:xfrm>
            <a:off x="304800" y="237744"/>
            <a:ext cx="17666208" cy="9820656"/>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63284" tIns="81642" rIns="163284" bIns="81642" anchor="ctr" compatLnSpc="1"/>
          <a:lstStyle/>
          <a:p>
            <a:endParaRPr kumimoji="0" lang="en-US" dirty="0"/>
          </a:p>
        </p:txBody>
      </p:sp>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8534400" y="9486900"/>
            <a:ext cx="1219200" cy="661986"/>
          </a:xfrm>
        </p:spPr>
        <p:txBody>
          <a:bodyPr/>
          <a:lstStyle>
            <a:lvl1pPr>
              <a:defRPr>
                <a:solidFill>
                  <a:srgbClr val="FFFFFF"/>
                </a:solidFill>
              </a:defRPr>
            </a:lvl1pPr>
          </a:lstStyle>
          <a:p>
            <a:pPr algn="r"/>
            <a:fld id="{00000000-1234-1234-1234-123412341234}" type="slidenum">
              <a:rPr lang="en-US" smtClean="0"/>
              <a:pPr algn="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304800" y="228600"/>
            <a:ext cx="17666208" cy="4572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5" name="Rectangle 14"/>
          <p:cNvSpPr>
            <a:spLocks noChangeArrowheads="1"/>
          </p:cNvSpPr>
          <p:nvPr/>
        </p:nvSpPr>
        <p:spPr bwMode="white">
          <a:xfrm>
            <a:off x="0" y="1005840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8" name="Rectangle 17"/>
          <p:cNvSpPr>
            <a:spLocks noChangeArrowheads="1"/>
          </p:cNvSpPr>
          <p:nvPr/>
        </p:nvSpPr>
        <p:spPr bwMode="white">
          <a:xfrm>
            <a:off x="1798320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6" name="Rectangle 15"/>
          <p:cNvSpPr>
            <a:spLocks noChangeArrowheads="1"/>
          </p:cNvSpPr>
          <p:nvPr/>
        </p:nvSpPr>
        <p:spPr bwMode="white">
          <a:xfrm>
            <a:off x="0" y="0"/>
            <a:ext cx="18288000" cy="17830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7" name="Rectangle 16"/>
          <p:cNvSpPr>
            <a:spLocks noChangeArrowheads="1"/>
          </p:cNvSpPr>
          <p:nvPr/>
        </p:nvSpPr>
        <p:spPr bwMode="white">
          <a:xfrm>
            <a:off x="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3" name="Rectangle 12"/>
          <p:cNvSpPr/>
          <p:nvPr/>
        </p:nvSpPr>
        <p:spPr>
          <a:xfrm>
            <a:off x="304800" y="914400"/>
            <a:ext cx="5486400" cy="88011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2" name="Title 1"/>
          <p:cNvSpPr>
            <a:spLocks noGrp="1"/>
          </p:cNvSpPr>
          <p:nvPr>
            <p:ph type="title"/>
          </p:nvPr>
        </p:nvSpPr>
        <p:spPr>
          <a:xfrm>
            <a:off x="762000" y="1371600"/>
            <a:ext cx="4724400" cy="1485900"/>
          </a:xfrm>
        </p:spPr>
        <p:txBody>
          <a:bodyPr anchor="b">
            <a:noAutofit/>
          </a:bodyPr>
          <a:lstStyle>
            <a:lvl1pPr algn="l">
              <a:buNone/>
              <a:defRPr sz="39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762000" y="2971801"/>
            <a:ext cx="4724400" cy="6217445"/>
          </a:xfrm>
        </p:spPr>
        <p:txBody>
          <a:bodyPr/>
          <a:lstStyle>
            <a:lvl1pPr marL="0" indent="0">
              <a:spcAft>
                <a:spcPts val="1786"/>
              </a:spcAft>
              <a:buNone/>
              <a:defRPr sz="2900">
                <a:solidFill>
                  <a:srgbClr val="FFFFFF"/>
                </a:solidFill>
              </a:defRPr>
            </a:lvl1pPr>
            <a:lvl2pPr>
              <a:buNone/>
              <a:defRPr sz="2100"/>
            </a:lvl2pPr>
            <a:lvl3pPr>
              <a:buNone/>
              <a:defRPr sz="1800"/>
            </a:lvl3pPr>
            <a:lvl4pPr>
              <a:buNone/>
              <a:defRPr sz="1600"/>
            </a:lvl4pPr>
            <a:lvl5pPr>
              <a:buNone/>
              <a:defRPr sz="16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304800" y="228600"/>
            <a:ext cx="17666208" cy="9820656"/>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63284" tIns="81642" rIns="163284" bIns="81642" anchor="ctr" compatLnSpc="1"/>
          <a:lstStyle/>
          <a:p>
            <a:endParaRPr kumimoji="0" lang="en-US" dirty="0"/>
          </a:p>
        </p:txBody>
      </p:sp>
      <p:sp>
        <p:nvSpPr>
          <p:cNvPr id="9" name="Straight Connector 8"/>
          <p:cNvSpPr>
            <a:spLocks noChangeShapeType="1"/>
          </p:cNvSpPr>
          <p:nvPr/>
        </p:nvSpPr>
        <p:spPr bwMode="auto">
          <a:xfrm>
            <a:off x="304800" y="800100"/>
            <a:ext cx="1766620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63284" tIns="81642" rIns="163284" bIns="81642" anchor="ctr" compatLnSpc="1"/>
          <a:lstStyle/>
          <a:p>
            <a:endParaRPr kumimoji="0" lang="en-US"/>
          </a:p>
        </p:txBody>
      </p:sp>
      <p:sp>
        <p:nvSpPr>
          <p:cNvPr id="20" name="Content Placeholder 19"/>
          <p:cNvSpPr>
            <a:spLocks noGrp="1"/>
          </p:cNvSpPr>
          <p:nvPr>
            <p:ph sz="quarter" idx="1"/>
          </p:nvPr>
        </p:nvSpPr>
        <p:spPr>
          <a:xfrm>
            <a:off x="6248400" y="1028700"/>
            <a:ext cx="11277600" cy="81153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2590800" y="342900"/>
            <a:ext cx="1219200" cy="9144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11" name="Oval 10"/>
          <p:cNvSpPr/>
          <p:nvPr/>
        </p:nvSpPr>
        <p:spPr>
          <a:xfrm>
            <a:off x="2779776" y="484632"/>
            <a:ext cx="841248" cy="63093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7" name="Slide Number Placeholder 6"/>
          <p:cNvSpPr>
            <a:spLocks noGrp="1"/>
          </p:cNvSpPr>
          <p:nvPr>
            <p:ph type="sldNum" sz="quarter" idx="12"/>
          </p:nvPr>
        </p:nvSpPr>
        <p:spPr>
          <a:xfrm>
            <a:off x="2743200" y="469108"/>
            <a:ext cx="914400" cy="661988"/>
          </a:xfrm>
        </p:spPr>
        <p:txBody>
          <a:bodyPr/>
          <a:lstStyle>
            <a:lvl1pPr>
              <a:defRPr>
                <a:solidFill>
                  <a:schemeClr val="accent3">
                    <a:shade val="75000"/>
                  </a:schemeClr>
                </a:solidFill>
              </a:defRPr>
            </a:lvl1pPr>
          </a:lstStyle>
          <a:p>
            <a:pPr algn="r"/>
            <a:fld id="{00000000-1234-1234-1234-123412341234}" type="slidenum">
              <a:rPr lang="en-US" smtClean="0"/>
              <a:pPr algn="r"/>
              <a:t>‹#›</a:t>
            </a:fld>
            <a:endParaRPr lang="en-US"/>
          </a:p>
        </p:txBody>
      </p:sp>
      <p:sp>
        <p:nvSpPr>
          <p:cNvPr id="21" name="Rectangle 20"/>
          <p:cNvSpPr>
            <a:spLocks noChangeArrowheads="1"/>
          </p:cNvSpPr>
          <p:nvPr/>
        </p:nvSpPr>
        <p:spPr bwMode="auto">
          <a:xfrm>
            <a:off x="298704" y="9582578"/>
            <a:ext cx="17666208" cy="464345"/>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a:xfrm>
            <a:off x="603504" y="9616272"/>
            <a:ext cx="6766560" cy="548640"/>
          </a:xfrm>
        </p:spPr>
        <p:txBody>
          <a:bodyPr/>
          <a:lstStyle/>
          <a:p>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304800" y="800100"/>
            <a:ext cx="1766620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163284" tIns="81642" rIns="163284" bIns="81642" anchor="ctr" compatLnSpc="1"/>
          <a:lstStyle/>
          <a:p>
            <a:endParaRPr kumimoji="0" lang="en-US"/>
          </a:p>
        </p:txBody>
      </p:sp>
      <p:sp>
        <p:nvSpPr>
          <p:cNvPr id="19" name="Rectangle 18"/>
          <p:cNvSpPr>
            <a:spLocks noChangeArrowheads="1"/>
          </p:cNvSpPr>
          <p:nvPr/>
        </p:nvSpPr>
        <p:spPr bwMode="white">
          <a:xfrm>
            <a:off x="0" y="1005840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6" name="Rectangle 15"/>
          <p:cNvSpPr>
            <a:spLocks noChangeArrowheads="1"/>
          </p:cNvSpPr>
          <p:nvPr/>
        </p:nvSpPr>
        <p:spPr bwMode="white">
          <a:xfrm>
            <a:off x="1798320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7" name="Rectangle 16"/>
          <p:cNvSpPr>
            <a:spLocks noChangeArrowheads="1"/>
          </p:cNvSpPr>
          <p:nvPr/>
        </p:nvSpPr>
        <p:spPr bwMode="white">
          <a:xfrm>
            <a:off x="0" y="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8" name="Rectangle 17"/>
          <p:cNvSpPr>
            <a:spLocks noChangeArrowheads="1"/>
          </p:cNvSpPr>
          <p:nvPr/>
        </p:nvSpPr>
        <p:spPr bwMode="white">
          <a:xfrm>
            <a:off x="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dirty="0"/>
          </a:p>
        </p:txBody>
      </p:sp>
      <p:sp>
        <p:nvSpPr>
          <p:cNvPr id="20" name="Rectangle 19"/>
          <p:cNvSpPr>
            <a:spLocks noChangeArrowheads="1"/>
          </p:cNvSpPr>
          <p:nvPr/>
        </p:nvSpPr>
        <p:spPr bwMode="auto">
          <a:xfrm>
            <a:off x="304800" y="228600"/>
            <a:ext cx="17666208" cy="452628"/>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8" name="Rectangle 7"/>
          <p:cNvSpPr/>
          <p:nvPr/>
        </p:nvSpPr>
        <p:spPr>
          <a:xfrm>
            <a:off x="304800" y="914400"/>
            <a:ext cx="5486400" cy="88011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15" name="Rectangle 14"/>
          <p:cNvSpPr>
            <a:spLocks noChangeArrowheads="1"/>
          </p:cNvSpPr>
          <p:nvPr/>
        </p:nvSpPr>
        <p:spPr bwMode="auto">
          <a:xfrm>
            <a:off x="304800" y="233172"/>
            <a:ext cx="17666208" cy="9820656"/>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63284" tIns="81642" rIns="163284" bIns="81642" anchor="ctr" compatLnSpc="1"/>
          <a:lstStyle/>
          <a:p>
            <a:endParaRPr kumimoji="0" lang="en-US" dirty="0"/>
          </a:p>
        </p:txBody>
      </p:sp>
      <p:sp>
        <p:nvSpPr>
          <p:cNvPr id="12" name="Oval 11"/>
          <p:cNvSpPr/>
          <p:nvPr/>
        </p:nvSpPr>
        <p:spPr>
          <a:xfrm>
            <a:off x="2590800" y="342900"/>
            <a:ext cx="1219200" cy="9144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13" name="Oval 12"/>
          <p:cNvSpPr/>
          <p:nvPr/>
        </p:nvSpPr>
        <p:spPr>
          <a:xfrm>
            <a:off x="2779776" y="484632"/>
            <a:ext cx="841248" cy="63093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7" name="Slide Number Placeholder 6"/>
          <p:cNvSpPr>
            <a:spLocks noGrp="1"/>
          </p:cNvSpPr>
          <p:nvPr>
            <p:ph type="sldNum" sz="quarter" idx="12"/>
          </p:nvPr>
        </p:nvSpPr>
        <p:spPr>
          <a:xfrm>
            <a:off x="2743200" y="469108"/>
            <a:ext cx="914400" cy="661988"/>
          </a:xfrm>
        </p:spPr>
        <p:txBody>
          <a:bodyPr/>
          <a:lstStyle/>
          <a:p>
            <a:pPr algn="r"/>
            <a:fld id="{00000000-1234-1234-1234-123412341234}" type="slidenum">
              <a:rPr lang="en-US" smtClean="0"/>
              <a:pPr algn="r"/>
              <a:t>‹#›</a:t>
            </a:fld>
            <a:endParaRPr lang="en-US"/>
          </a:p>
        </p:txBody>
      </p:sp>
      <p:sp>
        <p:nvSpPr>
          <p:cNvPr id="2" name="Title 1"/>
          <p:cNvSpPr>
            <a:spLocks noGrp="1"/>
          </p:cNvSpPr>
          <p:nvPr>
            <p:ph type="title"/>
          </p:nvPr>
        </p:nvSpPr>
        <p:spPr>
          <a:xfrm>
            <a:off x="6000750" y="7543800"/>
            <a:ext cx="11734800" cy="1828800"/>
          </a:xfrm>
        </p:spPr>
        <p:txBody>
          <a:bodyPr anchor="t">
            <a:noAutofit/>
          </a:bodyPr>
          <a:lstStyle>
            <a:lvl1pPr algn="l">
              <a:buNone/>
              <a:defRPr sz="43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6000750" y="914400"/>
            <a:ext cx="11734800" cy="6400800"/>
          </a:xfrm>
        </p:spPr>
        <p:txBody>
          <a:bodyPr/>
          <a:lstStyle>
            <a:lvl1pPr marL="0" indent="0">
              <a:buNone/>
              <a:defRPr sz="57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762000" y="1485900"/>
            <a:ext cx="4876800" cy="7886700"/>
          </a:xfrm>
        </p:spPr>
        <p:txBody>
          <a:bodyPr/>
          <a:lstStyle>
            <a:lvl1pPr marL="0" indent="0">
              <a:spcAft>
                <a:spcPts val="1786"/>
              </a:spcAft>
              <a:buFontTx/>
              <a:buNone/>
              <a:defRPr sz="2900">
                <a:solidFill>
                  <a:srgbClr val="FFFFFF"/>
                </a:solidFill>
              </a:defRPr>
            </a:lvl1pPr>
            <a:lvl2pPr>
              <a:defRPr sz="2100"/>
            </a:lvl2pPr>
            <a:lvl3pPr>
              <a:defRPr sz="1800"/>
            </a:lvl3pPr>
            <a:lvl4pPr>
              <a:defRPr sz="1600"/>
            </a:lvl4pPr>
            <a:lvl5pPr>
              <a:defRPr sz="16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298704" y="9582578"/>
            <a:ext cx="17666208" cy="464345"/>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5" name="Date Placeholder 4"/>
          <p:cNvSpPr>
            <a:spLocks noGrp="1"/>
          </p:cNvSpPr>
          <p:nvPr>
            <p:ph type="dt" sz="half" idx="10"/>
          </p:nvPr>
        </p:nvSpPr>
        <p:spPr>
          <a:xfrm>
            <a:off x="11576304" y="9607476"/>
            <a:ext cx="6089904" cy="548640"/>
          </a:xfrm>
        </p:spPr>
        <p:txBody>
          <a:bodyPr/>
          <a:lstStyle/>
          <a:p>
            <a:endParaRPr lang="en-IN"/>
          </a:p>
        </p:txBody>
      </p:sp>
      <p:sp>
        <p:nvSpPr>
          <p:cNvPr id="6" name="Footer Placeholder 5"/>
          <p:cNvSpPr>
            <a:spLocks noGrp="1"/>
          </p:cNvSpPr>
          <p:nvPr>
            <p:ph type="ftr" sz="quarter" idx="11"/>
          </p:nvPr>
        </p:nvSpPr>
        <p:spPr>
          <a:xfrm>
            <a:off x="603504" y="9616272"/>
            <a:ext cx="7168896" cy="548640"/>
          </a:xfrm>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algn="r"/>
            <a:fld id="{00000000-1234-1234-1234-123412341234}" type="slidenum">
              <a:rPr lang="en-US" smtClean="0"/>
              <a:pPr algn="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1005840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8" name="Rectangle 7"/>
          <p:cNvSpPr>
            <a:spLocks noChangeArrowheads="1"/>
          </p:cNvSpPr>
          <p:nvPr/>
        </p:nvSpPr>
        <p:spPr bwMode="white">
          <a:xfrm>
            <a:off x="14020800" y="0"/>
            <a:ext cx="42672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9" name="Rectangle 8"/>
          <p:cNvSpPr>
            <a:spLocks noChangeArrowheads="1"/>
          </p:cNvSpPr>
          <p:nvPr/>
        </p:nvSpPr>
        <p:spPr bwMode="white">
          <a:xfrm>
            <a:off x="0" y="0"/>
            <a:ext cx="18288000" cy="2331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0" name="Rectangle 9"/>
          <p:cNvSpPr>
            <a:spLocks noChangeArrowheads="1"/>
          </p:cNvSpPr>
          <p:nvPr/>
        </p:nvSpPr>
        <p:spPr bwMode="white">
          <a:xfrm>
            <a:off x="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1" name="Rectangle 10"/>
          <p:cNvSpPr>
            <a:spLocks noChangeArrowheads="1"/>
          </p:cNvSpPr>
          <p:nvPr/>
        </p:nvSpPr>
        <p:spPr bwMode="auto">
          <a:xfrm>
            <a:off x="292608" y="9587485"/>
            <a:ext cx="17666208" cy="464345"/>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2" name="Rectangle 11"/>
          <p:cNvSpPr>
            <a:spLocks noChangeArrowheads="1"/>
          </p:cNvSpPr>
          <p:nvPr/>
        </p:nvSpPr>
        <p:spPr bwMode="auto">
          <a:xfrm>
            <a:off x="304800" y="233172"/>
            <a:ext cx="17666208" cy="9820656"/>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63284" tIns="81642" rIns="163284" bIns="81642" anchor="ctr" compatLnSpc="1"/>
          <a:lstStyle/>
          <a:p>
            <a:endParaRPr kumimoji="0" lang="en-US" dirty="0"/>
          </a:p>
        </p:txBody>
      </p:sp>
      <p:sp>
        <p:nvSpPr>
          <p:cNvPr id="13" name="Straight Connector 12"/>
          <p:cNvSpPr>
            <a:spLocks noChangeShapeType="1"/>
          </p:cNvSpPr>
          <p:nvPr/>
        </p:nvSpPr>
        <p:spPr bwMode="auto">
          <a:xfrm rot="5400000">
            <a:off x="9605010" y="4917186"/>
            <a:ext cx="9368028"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163284" tIns="81642" rIns="163284" bIns="81642" anchor="ctr" compatLnSpc="1"/>
          <a:lstStyle/>
          <a:p>
            <a:endParaRPr kumimoji="0" lang="en-US"/>
          </a:p>
        </p:txBody>
      </p:sp>
      <p:sp>
        <p:nvSpPr>
          <p:cNvPr id="14" name="Oval 13"/>
          <p:cNvSpPr/>
          <p:nvPr/>
        </p:nvSpPr>
        <p:spPr>
          <a:xfrm>
            <a:off x="13679424" y="4388645"/>
            <a:ext cx="1219200" cy="9144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15" name="Oval 14"/>
          <p:cNvSpPr/>
          <p:nvPr/>
        </p:nvSpPr>
        <p:spPr>
          <a:xfrm>
            <a:off x="13868400" y="4530377"/>
            <a:ext cx="841248" cy="63093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6" name="Slide Number Placeholder 5"/>
          <p:cNvSpPr>
            <a:spLocks noGrp="1"/>
          </p:cNvSpPr>
          <p:nvPr>
            <p:ph type="sldNum" sz="quarter" idx="12"/>
          </p:nvPr>
        </p:nvSpPr>
        <p:spPr>
          <a:xfrm>
            <a:off x="13831824" y="4514852"/>
            <a:ext cx="914400" cy="661988"/>
          </a:xfrm>
        </p:spPr>
        <p:txBody>
          <a:bodyPr/>
          <a:lstStyle/>
          <a:p>
            <a:pPr algn="r"/>
            <a:fld id="{00000000-1234-1234-1234-123412341234}" type="slidenum">
              <a:rPr lang="en-US" smtClean="0"/>
              <a:pPr algn="r"/>
              <a:t>‹#›</a:t>
            </a:fld>
            <a:endParaRPr lang="en-US"/>
          </a:p>
        </p:txBody>
      </p:sp>
      <p:sp>
        <p:nvSpPr>
          <p:cNvPr id="3" name="Vertical Text Placeholder 2"/>
          <p:cNvSpPr>
            <a:spLocks noGrp="1"/>
          </p:cNvSpPr>
          <p:nvPr>
            <p:ph type="body" orient="vert" idx="1"/>
          </p:nvPr>
        </p:nvSpPr>
        <p:spPr>
          <a:xfrm>
            <a:off x="609600" y="457200"/>
            <a:ext cx="13106400" cy="8732049"/>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2" name="Vertical Title 1"/>
          <p:cNvSpPr>
            <a:spLocks noGrp="1"/>
          </p:cNvSpPr>
          <p:nvPr>
            <p:ph type="title" orient="vert"/>
          </p:nvPr>
        </p:nvSpPr>
        <p:spPr>
          <a:xfrm>
            <a:off x="14782800" y="457202"/>
            <a:ext cx="2895600" cy="8777288"/>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10058400"/>
            <a:ext cx="18288000" cy="228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6" name="Rectangle 15"/>
          <p:cNvSpPr>
            <a:spLocks noChangeArrowheads="1"/>
          </p:cNvSpPr>
          <p:nvPr/>
        </p:nvSpPr>
        <p:spPr bwMode="white">
          <a:xfrm>
            <a:off x="0" y="1"/>
            <a:ext cx="18288000" cy="2090057"/>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8" name="Rectangle 17"/>
          <p:cNvSpPr>
            <a:spLocks noChangeArrowheads="1"/>
          </p:cNvSpPr>
          <p:nvPr/>
        </p:nvSpPr>
        <p:spPr bwMode="white">
          <a:xfrm>
            <a:off x="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9" name="Rectangle 18"/>
          <p:cNvSpPr>
            <a:spLocks noChangeArrowheads="1"/>
          </p:cNvSpPr>
          <p:nvPr/>
        </p:nvSpPr>
        <p:spPr bwMode="white">
          <a:xfrm>
            <a:off x="17983200" y="0"/>
            <a:ext cx="304800" cy="10287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9" name="Rectangle 8"/>
          <p:cNvSpPr>
            <a:spLocks noChangeArrowheads="1"/>
          </p:cNvSpPr>
          <p:nvPr/>
        </p:nvSpPr>
        <p:spPr bwMode="auto">
          <a:xfrm>
            <a:off x="298704" y="9582578"/>
            <a:ext cx="17666208" cy="464345"/>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163284" tIns="81642" rIns="163284" bIns="81642" anchor="ctr" compatLnSpc="1"/>
          <a:lstStyle/>
          <a:p>
            <a:endParaRPr kumimoji="0" lang="en-US"/>
          </a:p>
        </p:txBody>
      </p:sp>
      <p:sp>
        <p:nvSpPr>
          <p:cNvPr id="14" name="Date Placeholder 13"/>
          <p:cNvSpPr>
            <a:spLocks noGrp="1"/>
          </p:cNvSpPr>
          <p:nvPr>
            <p:ph type="dt" sz="half" idx="2"/>
          </p:nvPr>
        </p:nvSpPr>
        <p:spPr>
          <a:xfrm>
            <a:off x="11582400" y="9607476"/>
            <a:ext cx="6089904" cy="548640"/>
          </a:xfrm>
          <a:prstGeom prst="rect">
            <a:avLst/>
          </a:prstGeom>
        </p:spPr>
        <p:txBody>
          <a:bodyPr vert="horz" lIns="163284" tIns="81642" rIns="163284" bIns="81642"/>
          <a:lstStyle>
            <a:lvl1pPr algn="r" eaLnBrk="1" latinLnBrk="0" hangingPunct="1">
              <a:defRPr kumimoji="0" sz="2500">
                <a:solidFill>
                  <a:srgbClr val="FFFFFF"/>
                </a:solidFill>
              </a:defRPr>
            </a:lvl1pPr>
          </a:lstStyle>
          <a:p>
            <a:endParaRPr lang="en-IN"/>
          </a:p>
        </p:txBody>
      </p:sp>
      <p:sp>
        <p:nvSpPr>
          <p:cNvPr id="3" name="Footer Placeholder 2"/>
          <p:cNvSpPr>
            <a:spLocks noGrp="1"/>
          </p:cNvSpPr>
          <p:nvPr>
            <p:ph type="ftr" sz="quarter" idx="3"/>
          </p:nvPr>
        </p:nvSpPr>
        <p:spPr>
          <a:xfrm>
            <a:off x="609600" y="9616272"/>
            <a:ext cx="7162800" cy="548640"/>
          </a:xfrm>
          <a:prstGeom prst="rect">
            <a:avLst/>
          </a:prstGeom>
        </p:spPr>
        <p:txBody>
          <a:bodyPr vert="horz" lIns="163284" tIns="81642" rIns="163284" bIns="81642"/>
          <a:lstStyle>
            <a:lvl1pPr algn="l" eaLnBrk="1" latinLnBrk="0" hangingPunct="1">
              <a:defRPr kumimoji="0" sz="2100">
                <a:solidFill>
                  <a:srgbClr val="FFFFFF"/>
                </a:solidFill>
              </a:defRPr>
            </a:lvl1pPr>
          </a:lstStyle>
          <a:p>
            <a:endParaRPr lang="en-IN"/>
          </a:p>
        </p:txBody>
      </p:sp>
      <p:sp>
        <p:nvSpPr>
          <p:cNvPr id="8" name="Rectangle 7"/>
          <p:cNvSpPr>
            <a:spLocks noChangeArrowheads="1"/>
          </p:cNvSpPr>
          <p:nvPr/>
        </p:nvSpPr>
        <p:spPr bwMode="auto">
          <a:xfrm>
            <a:off x="304800" y="233172"/>
            <a:ext cx="17666208" cy="9820656"/>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163284" tIns="81642" rIns="163284" bIns="81642" anchor="ctr" compatLnSpc="1"/>
          <a:lstStyle/>
          <a:p>
            <a:endParaRPr kumimoji="0" lang="en-US" dirty="0"/>
          </a:p>
        </p:txBody>
      </p:sp>
      <p:sp>
        <p:nvSpPr>
          <p:cNvPr id="10" name="Straight Connector 9"/>
          <p:cNvSpPr>
            <a:spLocks noChangeShapeType="1"/>
          </p:cNvSpPr>
          <p:nvPr/>
        </p:nvSpPr>
        <p:spPr bwMode="auto">
          <a:xfrm>
            <a:off x="304800" y="1915115"/>
            <a:ext cx="17666208"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163284" tIns="81642" rIns="163284" bIns="81642" anchor="ctr" compatLnSpc="1"/>
          <a:lstStyle/>
          <a:p>
            <a:endParaRPr kumimoji="0" lang="en-US"/>
          </a:p>
        </p:txBody>
      </p:sp>
      <p:sp>
        <p:nvSpPr>
          <p:cNvPr id="12" name="Oval 11"/>
          <p:cNvSpPr/>
          <p:nvPr/>
        </p:nvSpPr>
        <p:spPr>
          <a:xfrm>
            <a:off x="8534400" y="1434054"/>
            <a:ext cx="1219200" cy="9144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15" name="Oval 14"/>
          <p:cNvSpPr/>
          <p:nvPr/>
        </p:nvSpPr>
        <p:spPr>
          <a:xfrm>
            <a:off x="8723376" y="1575786"/>
            <a:ext cx="841248" cy="63093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163284" tIns="81642" rIns="163284" bIns="81642" anchor="ctr"/>
          <a:lstStyle/>
          <a:p>
            <a:pPr algn="ctr" eaLnBrk="1" latinLnBrk="0" hangingPunct="1"/>
            <a:endParaRPr kumimoji="0" lang="en-US"/>
          </a:p>
        </p:txBody>
      </p:sp>
      <p:sp>
        <p:nvSpPr>
          <p:cNvPr id="23" name="Slide Number Placeholder 22"/>
          <p:cNvSpPr>
            <a:spLocks noGrp="1"/>
          </p:cNvSpPr>
          <p:nvPr>
            <p:ph type="sldNum" sz="quarter" idx="4"/>
          </p:nvPr>
        </p:nvSpPr>
        <p:spPr>
          <a:xfrm>
            <a:off x="8686800" y="1560262"/>
            <a:ext cx="914400" cy="661988"/>
          </a:xfrm>
          <a:prstGeom prst="rect">
            <a:avLst/>
          </a:prstGeom>
        </p:spPr>
        <p:txBody>
          <a:bodyPr vert="horz" lIns="81642" tIns="81642" rIns="81642" bIns="81642" anchor="ctr">
            <a:normAutofit/>
          </a:bodyPr>
          <a:lstStyle>
            <a:lvl1pPr algn="ctr" eaLnBrk="1" latinLnBrk="0" hangingPunct="1">
              <a:defRPr kumimoji="0" sz="2900">
                <a:solidFill>
                  <a:schemeClr val="accent3">
                    <a:shade val="75000"/>
                  </a:schemeClr>
                </a:solidFill>
              </a:defRPr>
            </a:lvl1pPr>
          </a:lstStyle>
          <a:p>
            <a:pPr algn="r"/>
            <a:fld id="{00000000-1234-1234-1234-123412341234}" type="slidenum">
              <a:rPr lang="en-US" smtClean="0"/>
              <a:pPr algn="r"/>
              <a:t>‹#›</a:t>
            </a:fld>
            <a:endParaRPr lang="en-US"/>
          </a:p>
        </p:txBody>
      </p:sp>
      <p:sp>
        <p:nvSpPr>
          <p:cNvPr id="22" name="Title Placeholder 21"/>
          <p:cNvSpPr>
            <a:spLocks noGrp="1"/>
          </p:cNvSpPr>
          <p:nvPr>
            <p:ph type="title"/>
          </p:nvPr>
        </p:nvSpPr>
        <p:spPr>
          <a:xfrm>
            <a:off x="603504" y="342900"/>
            <a:ext cx="17068800" cy="1138428"/>
          </a:xfrm>
          <a:prstGeom prst="rect">
            <a:avLst/>
          </a:prstGeom>
        </p:spPr>
        <p:txBody>
          <a:bodyPr vert="horz" lIns="163284" tIns="81642" rIns="163284" bIns="81642"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03504" y="2286000"/>
            <a:ext cx="17068800" cy="6899148"/>
          </a:xfrm>
          <a:prstGeom prst="rect">
            <a:avLst/>
          </a:prstGeom>
        </p:spPr>
        <p:txBody>
          <a:bodyPr vert="horz" lIns="163284" tIns="81642" rIns="163284" bIns="81642">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sldNum="0" hdr="0" ftr="0" dt="0"/>
  <p:txStyles>
    <p:titleStyle>
      <a:lvl1pPr algn="ctr" rtl="0" eaLnBrk="1" latinLnBrk="0" hangingPunct="1">
        <a:spcBef>
          <a:spcPct val="0"/>
        </a:spcBef>
        <a:buNone/>
        <a:defRPr kumimoji="0" sz="5900" kern="1200">
          <a:solidFill>
            <a:schemeClr val="accent3">
              <a:shade val="75000"/>
            </a:schemeClr>
          </a:solidFill>
          <a:latin typeface="+mj-lt"/>
          <a:ea typeface="+mj-ea"/>
          <a:cs typeface="+mj-cs"/>
        </a:defRPr>
      </a:lvl1pPr>
    </p:titleStyle>
    <p:bodyStyle>
      <a:lvl1pPr marL="489853" indent="-489853" algn="l" rtl="0" eaLnBrk="1" latinLnBrk="0" hangingPunct="1">
        <a:spcBef>
          <a:spcPct val="20000"/>
        </a:spcBef>
        <a:buClr>
          <a:schemeClr val="accent1"/>
        </a:buClr>
        <a:buSzPct val="85000"/>
        <a:buFont typeface="Wingdings 2"/>
        <a:buChar char=""/>
        <a:defRPr kumimoji="0" sz="4800" kern="1200">
          <a:solidFill>
            <a:schemeClr val="tx1"/>
          </a:solidFill>
          <a:latin typeface="+mn-lt"/>
          <a:ea typeface="+mn-ea"/>
          <a:cs typeface="+mn-cs"/>
        </a:defRPr>
      </a:lvl1pPr>
      <a:lvl2pPr marL="979706" indent="-489853" algn="l" rtl="0" eaLnBrk="1" latinLnBrk="0" hangingPunct="1">
        <a:spcBef>
          <a:spcPct val="20000"/>
        </a:spcBef>
        <a:buClr>
          <a:schemeClr val="accent2"/>
        </a:buClr>
        <a:buSzPct val="70000"/>
        <a:buFont typeface="Wingdings"/>
        <a:buChar char=""/>
        <a:defRPr kumimoji="0" sz="3900" kern="1200">
          <a:solidFill>
            <a:schemeClr val="tx2"/>
          </a:solidFill>
          <a:latin typeface="+mn-lt"/>
          <a:ea typeface="+mn-ea"/>
          <a:cs typeface="+mn-cs"/>
        </a:defRPr>
      </a:lvl2pPr>
      <a:lvl3pPr marL="1469560" indent="-408211" algn="l" rtl="0" eaLnBrk="1" latinLnBrk="0" hangingPunct="1">
        <a:spcBef>
          <a:spcPct val="20000"/>
        </a:spcBef>
        <a:buClr>
          <a:schemeClr val="accent3"/>
        </a:buClr>
        <a:buSzPct val="75000"/>
        <a:buFont typeface="Wingdings 2"/>
        <a:buChar char=""/>
        <a:defRPr kumimoji="0" sz="3600" kern="1200">
          <a:solidFill>
            <a:schemeClr val="tx1"/>
          </a:solidFill>
          <a:latin typeface="+mn-lt"/>
          <a:ea typeface="+mn-ea"/>
          <a:cs typeface="+mn-cs"/>
        </a:defRPr>
      </a:lvl3pPr>
      <a:lvl4pPr marL="1959413" indent="-408211" algn="l" rtl="0" eaLnBrk="1" latinLnBrk="0" hangingPunct="1">
        <a:spcBef>
          <a:spcPct val="20000"/>
        </a:spcBef>
        <a:buClr>
          <a:schemeClr val="accent4"/>
        </a:buClr>
        <a:buSzPct val="70000"/>
        <a:buFont typeface="Wingdings"/>
        <a:buChar char=""/>
        <a:defRPr kumimoji="0" sz="3600" kern="1200">
          <a:solidFill>
            <a:schemeClr val="tx2"/>
          </a:solidFill>
          <a:latin typeface="+mn-lt"/>
          <a:ea typeface="+mn-ea"/>
          <a:cs typeface="+mn-cs"/>
        </a:defRPr>
      </a:lvl4pPr>
      <a:lvl5pPr marL="2449266" indent="-408211" algn="l" rtl="0" eaLnBrk="1" latinLnBrk="0" hangingPunct="1">
        <a:spcBef>
          <a:spcPct val="20000"/>
        </a:spcBef>
        <a:buClr>
          <a:schemeClr val="accent5"/>
        </a:buClr>
        <a:buFontTx/>
        <a:buChar char="•"/>
        <a:defRPr kumimoji="0" sz="3200" kern="1200">
          <a:solidFill>
            <a:schemeClr val="tx1"/>
          </a:solidFill>
          <a:latin typeface="+mn-lt"/>
          <a:ea typeface="+mn-ea"/>
          <a:cs typeface="+mn-cs"/>
        </a:defRPr>
      </a:lvl5pPr>
      <a:lvl6pPr marL="2939119" indent="-326569" algn="l" rtl="0" eaLnBrk="1" latinLnBrk="0" hangingPunct="1">
        <a:spcBef>
          <a:spcPct val="20000"/>
        </a:spcBef>
        <a:buClr>
          <a:schemeClr val="accent6"/>
        </a:buClr>
        <a:buSzPct val="80000"/>
        <a:buFont typeface="Wingdings 2"/>
        <a:buChar char=""/>
        <a:defRPr kumimoji="0" sz="3200" kern="1200">
          <a:solidFill>
            <a:schemeClr val="tx1"/>
          </a:solidFill>
          <a:latin typeface="+mn-lt"/>
          <a:ea typeface="+mn-ea"/>
          <a:cs typeface="+mn-cs"/>
        </a:defRPr>
      </a:lvl6pPr>
      <a:lvl7pPr marL="3428973" indent="-326569" algn="l" rtl="0" eaLnBrk="1" latinLnBrk="0" hangingPunct="1">
        <a:spcBef>
          <a:spcPct val="20000"/>
        </a:spcBef>
        <a:buClr>
          <a:schemeClr val="accent1">
            <a:shade val="75000"/>
          </a:schemeClr>
        </a:buClr>
        <a:buSzPct val="90000"/>
        <a:buChar char="•"/>
        <a:defRPr kumimoji="0" sz="2900" kern="1200" baseline="0">
          <a:solidFill>
            <a:schemeClr val="tx1"/>
          </a:solidFill>
          <a:latin typeface="+mn-lt"/>
          <a:ea typeface="+mn-ea"/>
          <a:cs typeface="+mn-cs"/>
        </a:defRPr>
      </a:lvl7pPr>
      <a:lvl8pPr marL="3755541" indent="-326569" algn="l" rtl="0" eaLnBrk="1" latinLnBrk="0" hangingPunct="1">
        <a:spcBef>
          <a:spcPct val="20000"/>
        </a:spcBef>
        <a:buClr>
          <a:schemeClr val="accent4">
            <a:shade val="75000"/>
          </a:schemeClr>
        </a:buClr>
        <a:buChar char="•"/>
        <a:defRPr kumimoji="0" sz="2900" kern="1200">
          <a:solidFill>
            <a:schemeClr val="tx1"/>
          </a:solidFill>
          <a:latin typeface="+mn-lt"/>
          <a:ea typeface="+mn-ea"/>
          <a:cs typeface="+mn-cs"/>
        </a:defRPr>
      </a:lvl8pPr>
      <a:lvl9pPr marL="4245395" indent="-326569" algn="l" rtl="0" eaLnBrk="1" latinLnBrk="0" hangingPunct="1">
        <a:spcBef>
          <a:spcPct val="20000"/>
        </a:spcBef>
        <a:buClr>
          <a:schemeClr val="accent2">
            <a:shade val="75000"/>
          </a:schemeClr>
        </a:buClr>
        <a:buSzPct val="90000"/>
        <a:buChar char="•"/>
        <a:defRPr kumimoji="0" sz="25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816422" algn="l" rtl="0" eaLnBrk="1" latinLnBrk="0" hangingPunct="1">
        <a:defRPr kumimoji="0" kern="1200">
          <a:solidFill>
            <a:schemeClr val="tx1"/>
          </a:solidFill>
          <a:latin typeface="+mn-lt"/>
          <a:ea typeface="+mn-ea"/>
          <a:cs typeface="+mn-cs"/>
        </a:defRPr>
      </a:lvl2pPr>
      <a:lvl3pPr marL="1632844" algn="l" rtl="0" eaLnBrk="1" latinLnBrk="0" hangingPunct="1">
        <a:defRPr kumimoji="0" kern="1200">
          <a:solidFill>
            <a:schemeClr val="tx1"/>
          </a:solidFill>
          <a:latin typeface="+mn-lt"/>
          <a:ea typeface="+mn-ea"/>
          <a:cs typeface="+mn-cs"/>
        </a:defRPr>
      </a:lvl3pPr>
      <a:lvl4pPr marL="2449266" algn="l" rtl="0" eaLnBrk="1" latinLnBrk="0" hangingPunct="1">
        <a:defRPr kumimoji="0" kern="1200">
          <a:solidFill>
            <a:schemeClr val="tx1"/>
          </a:solidFill>
          <a:latin typeface="+mn-lt"/>
          <a:ea typeface="+mn-ea"/>
          <a:cs typeface="+mn-cs"/>
        </a:defRPr>
      </a:lvl4pPr>
      <a:lvl5pPr marL="3265688" algn="l" rtl="0" eaLnBrk="1" latinLnBrk="0" hangingPunct="1">
        <a:defRPr kumimoji="0" kern="1200">
          <a:solidFill>
            <a:schemeClr val="tx1"/>
          </a:solidFill>
          <a:latin typeface="+mn-lt"/>
          <a:ea typeface="+mn-ea"/>
          <a:cs typeface="+mn-cs"/>
        </a:defRPr>
      </a:lvl5pPr>
      <a:lvl6pPr marL="4082110" algn="l" rtl="0" eaLnBrk="1" latinLnBrk="0" hangingPunct="1">
        <a:defRPr kumimoji="0" kern="1200">
          <a:solidFill>
            <a:schemeClr val="tx1"/>
          </a:solidFill>
          <a:latin typeface="+mn-lt"/>
          <a:ea typeface="+mn-ea"/>
          <a:cs typeface="+mn-cs"/>
        </a:defRPr>
      </a:lvl6pPr>
      <a:lvl7pPr marL="4898532" algn="l" rtl="0" eaLnBrk="1" latinLnBrk="0" hangingPunct="1">
        <a:defRPr kumimoji="0" kern="1200">
          <a:solidFill>
            <a:schemeClr val="tx1"/>
          </a:solidFill>
          <a:latin typeface="+mn-lt"/>
          <a:ea typeface="+mn-ea"/>
          <a:cs typeface="+mn-cs"/>
        </a:defRPr>
      </a:lvl7pPr>
      <a:lvl8pPr marL="5714954" algn="l" rtl="0" eaLnBrk="1" latinLnBrk="0" hangingPunct="1">
        <a:defRPr kumimoji="0" kern="1200">
          <a:solidFill>
            <a:schemeClr val="tx1"/>
          </a:solidFill>
          <a:latin typeface="+mn-lt"/>
          <a:ea typeface="+mn-ea"/>
          <a:cs typeface="+mn-cs"/>
        </a:defRPr>
      </a:lvl8pPr>
      <a:lvl9pPr marL="653137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doctoraiviaaanshul.netlify.app/" TargetMode="Externa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hyperlink" Target="https://github.com/anshbytecode/DoctorAiadvance" TargetMode="External"/><Relationship Id="rId5" Type="http://schemas.openxmlformats.org/officeDocument/2006/relationships/hyperlink" Target="https://anshulbhilareportfolio.netlify.app/" TargetMode="External"/><Relationship Id="rId4" Type="http://schemas.openxmlformats.org/officeDocument/2006/relationships/hyperlink" Target="https://www.linkedin.com/in/anshul-bhilare-25171029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56997" y="1007706"/>
            <a:ext cx="12167118" cy="1477325"/>
          </a:xfrm>
          <a:prstGeom prst="rect">
            <a:avLst/>
          </a:prstGeom>
          <a:noFill/>
        </p:spPr>
        <p:txBody>
          <a:bodyPr wrap="square" lIns="91439" tIns="45719" rIns="91439" bIns="45719" rtlCol="0">
            <a:spAutoFit/>
          </a:bodyPr>
          <a:lstStyle/>
          <a:p>
            <a:r>
              <a:rPr lang="en-US" sz="4500" dirty="0" smtClean="0">
                <a:solidFill>
                  <a:schemeClr val="tx1"/>
                </a:solidFill>
              </a:rPr>
              <a:t>Team </a:t>
            </a:r>
            <a:r>
              <a:rPr lang="en-US" sz="4500" dirty="0">
                <a:solidFill>
                  <a:schemeClr val="tx1"/>
                </a:solidFill>
              </a:rPr>
              <a:t>Name: Ctrl Alt Elite</a:t>
            </a:r>
          </a:p>
          <a:p>
            <a:r>
              <a:rPr lang="en-US" sz="4500" dirty="0">
                <a:solidFill>
                  <a:schemeClr val="tx1"/>
                </a:solidFill>
              </a:rPr>
              <a:t>Topic : Doctor </a:t>
            </a:r>
            <a:r>
              <a:rPr lang="en-US" sz="4500" dirty="0" smtClean="0">
                <a:solidFill>
                  <a:schemeClr val="tx1"/>
                </a:solidFill>
              </a:rPr>
              <a:t>AI</a:t>
            </a:r>
            <a:endParaRPr lang="en-IN" sz="4500" dirty="0">
              <a:solidFill>
                <a:schemeClr val="tx1"/>
              </a:solidFill>
            </a:endParaRPr>
          </a:p>
        </p:txBody>
      </p:sp>
      <p:pic>
        <p:nvPicPr>
          <p:cNvPr id="4" name="Picture 2" descr="C:\Users\hp\OneDrive\Desktop\anshpl\doctor_ai_app\doctor-ai-anshul\mobiledoctorai.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6997" y="2645283"/>
            <a:ext cx="13024218" cy="660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7554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grpSp>
        <p:nvGrpSpPr>
          <p:cNvPr id="125" name="Google Shape;125;g38c610b2f8a_1_4"/>
          <p:cNvGrpSpPr/>
          <p:nvPr/>
        </p:nvGrpSpPr>
        <p:grpSpPr>
          <a:xfrm>
            <a:off x="1" y="9769053"/>
            <a:ext cx="18288118" cy="522255"/>
            <a:chOff x="0" y="-66675"/>
            <a:chExt cx="4816592" cy="205200"/>
          </a:xfrm>
        </p:grpSpPr>
        <p:sp>
          <p:nvSpPr>
            <p:cNvPr id="126" name="Google Shape;126;g38c610b2f8a_1_4"/>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127" name="Google Shape;127;g38c610b2f8a_1_4"/>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131" name="Google Shape;131;g38c610b2f8a_1_4"/>
          <p:cNvSpPr txBox="1"/>
          <p:nvPr/>
        </p:nvSpPr>
        <p:spPr>
          <a:xfrm>
            <a:off x="2700172" y="503448"/>
            <a:ext cx="12514200" cy="989700"/>
          </a:xfrm>
          <a:prstGeom prst="rect">
            <a:avLst/>
          </a:prstGeom>
          <a:noFill/>
          <a:ln>
            <a:noFill/>
          </a:ln>
        </p:spPr>
        <p:txBody>
          <a:bodyPr spcFirstLastPara="1" wrap="square" lIns="91424" tIns="91424" rIns="91424" bIns="91424" anchor="t" anchorCtr="0">
            <a:noAutofit/>
          </a:bodyPr>
          <a:lstStyle/>
          <a:p>
            <a:pPr algn="ctr"/>
            <a:r>
              <a:rPr lang="en-US" sz="4800" b="1" dirty="0" smtClean="0">
                <a:solidFill>
                  <a:srgbClr val="00398B"/>
                </a:solidFill>
                <a:latin typeface="Times New Roman"/>
                <a:ea typeface="Times New Roman"/>
                <a:cs typeface="Times New Roman"/>
                <a:sym typeface="Times New Roman"/>
              </a:rPr>
              <a:t>Abstract</a:t>
            </a:r>
            <a:endParaRPr sz="4800" b="1" dirty="0">
              <a:solidFill>
                <a:srgbClr val="00398B"/>
              </a:solidFill>
              <a:latin typeface="Times New Roman"/>
              <a:ea typeface="Times New Roman"/>
              <a:cs typeface="Times New Roman"/>
              <a:sym typeface="Times New Roman"/>
            </a:endParaRPr>
          </a:p>
        </p:txBody>
      </p:sp>
      <p:sp>
        <p:nvSpPr>
          <p:cNvPr id="132" name="Google Shape;132;g38c610b2f8a_1_4"/>
          <p:cNvSpPr txBox="1"/>
          <p:nvPr/>
        </p:nvSpPr>
        <p:spPr>
          <a:xfrm>
            <a:off x="698300" y="2014976"/>
            <a:ext cx="17268600" cy="7671300"/>
          </a:xfrm>
          <a:prstGeom prst="rect">
            <a:avLst/>
          </a:prstGeom>
          <a:noFill/>
          <a:ln>
            <a:noFill/>
          </a:ln>
        </p:spPr>
        <p:txBody>
          <a:bodyPr spcFirstLastPara="1" wrap="square" lIns="91424" tIns="91424" rIns="91424" bIns="91424" anchor="t" anchorCtr="0">
            <a:noAutofit/>
          </a:bodyPr>
          <a:lstStyle/>
          <a:p>
            <a:pPr marL="342897" indent="-342897">
              <a:buFont typeface="Arial" pitchFamily="34" charset="0"/>
              <a:buChar char="•"/>
            </a:pPr>
            <a:r>
              <a:rPr lang="en-US" sz="2300" b="1" dirty="0"/>
              <a:t>Objective / Aim:</a:t>
            </a:r>
            <a:r>
              <a:rPr lang="en-US" sz="2300" dirty="0"/>
              <a:t/>
            </a:r>
            <a:br>
              <a:rPr lang="en-US" sz="2300" dirty="0"/>
            </a:br>
            <a:r>
              <a:rPr lang="en-US" sz="2300" dirty="0"/>
              <a:t>The objective of </a:t>
            </a:r>
            <a:r>
              <a:rPr lang="en-US" sz="2300" i="1" dirty="0" err="1"/>
              <a:t>DoctorAI</a:t>
            </a:r>
            <a:r>
              <a:rPr lang="en-US" sz="2300" dirty="0"/>
              <a:t> is to create an intelligent, AI-powered system that can accurately understand users’ health queries, provide verified medical insights, and guide them toward appropriate next steps, such as consulting a doctor or scheduling a health checkup</a:t>
            </a:r>
            <a:r>
              <a:rPr lang="en-US" sz="2300" dirty="0"/>
              <a:t>.</a:t>
            </a:r>
          </a:p>
          <a:p>
            <a:pPr marL="342897" indent="-342897">
              <a:buFont typeface="Arial" pitchFamily="34" charset="0"/>
              <a:buChar char="•"/>
            </a:pPr>
            <a:endParaRPr lang="en-US" sz="2300" dirty="0"/>
          </a:p>
          <a:p>
            <a:pPr marL="342897" indent="-342897">
              <a:buFont typeface="Arial" pitchFamily="34" charset="0"/>
              <a:buChar char="•"/>
            </a:pPr>
            <a:r>
              <a:rPr lang="en-US" sz="2300" b="1" dirty="0"/>
              <a:t>Proposed Solution / Approach:</a:t>
            </a:r>
            <a:r>
              <a:rPr lang="en-US" sz="2300" dirty="0"/>
              <a:t/>
            </a:r>
            <a:br>
              <a:rPr lang="en-US" sz="2300" dirty="0"/>
            </a:br>
            <a:r>
              <a:rPr lang="en-US" sz="2300" dirty="0" err="1"/>
              <a:t>DoctorAI</a:t>
            </a:r>
            <a:r>
              <a:rPr lang="en-US" sz="2300" dirty="0"/>
              <a:t> leverages Natural Language Processing (NLP) and Large Language Model (LLM) technology to interpret user queries in natural language. The system integrates a curated medical knowledge base with machine learning models to generate reliable, explainable responses. It can process doctor-patient conversation datasets, classify symptoms, and match them with possible conditions using confidence-based reasoning. The platform can be deployed as a </a:t>
            </a:r>
            <a:r>
              <a:rPr lang="en-US" sz="2300" dirty="0" err="1"/>
              <a:t>chatbot</a:t>
            </a:r>
            <a:r>
              <a:rPr lang="en-US" sz="2300" dirty="0"/>
              <a:t> or integrated with telemedicine portals for real-time support. Future enhancements include multilingual capabilities and integration with wearable health data</a:t>
            </a:r>
            <a:r>
              <a:rPr lang="en-US" sz="2300" dirty="0"/>
              <a:t>.</a:t>
            </a:r>
          </a:p>
          <a:p>
            <a:pPr marL="342897" indent="-342897">
              <a:buFont typeface="Arial" pitchFamily="34" charset="0"/>
              <a:buChar char="•"/>
            </a:pPr>
            <a:endParaRPr lang="en-US" sz="2300" dirty="0"/>
          </a:p>
          <a:p>
            <a:pPr marL="342897" indent="-342897">
              <a:buFont typeface="Arial" pitchFamily="34" charset="0"/>
              <a:buChar char="•"/>
            </a:pPr>
            <a:r>
              <a:rPr lang="en-US" sz="2300" b="1" dirty="0"/>
              <a:t>Expected Impact / Outcome:</a:t>
            </a:r>
            <a:r>
              <a:rPr lang="en-US" sz="2300" dirty="0"/>
              <a:t/>
            </a:r>
            <a:br>
              <a:rPr lang="en-US" sz="2300" dirty="0"/>
            </a:br>
            <a:r>
              <a:rPr lang="en-US" sz="2300" dirty="0" err="1"/>
              <a:t>DoctorAI</a:t>
            </a:r>
            <a:r>
              <a:rPr lang="en-US" sz="2300" dirty="0"/>
              <a:t> will serve as a virtual pre-diagnosis assistant, improving early health awareness, reducing misinformation, and supporting overburdened healthcare systems. It empowers users with trustworthy information, facilitates quick triage, and helps medical professionals focus on critical cases. In the long run, the solution aims to bridge the healthcare accessibility gap through intelligent, inclusive, and data-driven support.</a:t>
            </a:r>
          </a:p>
        </p:txBody>
      </p:sp>
    </p:spTree>
    <p:extLst>
      <p:ext uri="{BB962C8B-B14F-4D97-AF65-F5344CB8AC3E}">
        <p14:creationId xmlns:p14="http://schemas.microsoft.com/office/powerpoint/2010/main" val="38851555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grpSp>
        <p:nvGrpSpPr>
          <p:cNvPr id="258" name="Google Shape;258;g3a9904db456_1_167"/>
          <p:cNvGrpSpPr/>
          <p:nvPr/>
        </p:nvGrpSpPr>
        <p:grpSpPr>
          <a:xfrm>
            <a:off x="1" y="9769053"/>
            <a:ext cx="18288118" cy="522255"/>
            <a:chOff x="0" y="-66675"/>
            <a:chExt cx="4816592" cy="205200"/>
          </a:xfrm>
        </p:grpSpPr>
        <p:sp>
          <p:nvSpPr>
            <p:cNvPr id="259" name="Google Shape;259;g3a9904db456_1_167"/>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260" name="Google Shape;260;g3a9904db456_1_167"/>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264" name="Google Shape;264;g3a9904db456_1_167"/>
          <p:cNvSpPr txBox="1"/>
          <p:nvPr/>
        </p:nvSpPr>
        <p:spPr>
          <a:xfrm>
            <a:off x="2886960" y="493991"/>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Problem</a:t>
            </a:r>
            <a:r>
              <a:rPr lang="en-US" sz="6100" dirty="0"/>
              <a:t> </a:t>
            </a:r>
            <a:r>
              <a:rPr lang="en-US" sz="4800" b="1" dirty="0">
                <a:solidFill>
                  <a:srgbClr val="00398B"/>
                </a:solidFill>
                <a:latin typeface="Times New Roman"/>
                <a:ea typeface="Times New Roman"/>
                <a:cs typeface="Times New Roman"/>
                <a:sym typeface="Times New Roman"/>
              </a:rPr>
              <a:t>Understanding</a:t>
            </a:r>
            <a:endParaRPr sz="4800" b="1" dirty="0">
              <a:solidFill>
                <a:srgbClr val="00398B"/>
              </a:solidFill>
              <a:latin typeface="Times New Roman"/>
              <a:ea typeface="Times New Roman"/>
              <a:cs typeface="Times New Roman"/>
              <a:sym typeface="Times New Roman"/>
            </a:endParaRPr>
          </a:p>
        </p:txBody>
      </p:sp>
      <p:sp>
        <p:nvSpPr>
          <p:cNvPr id="265" name="Google Shape;265;g3a9904db456_1_167"/>
          <p:cNvSpPr txBox="1"/>
          <p:nvPr/>
        </p:nvSpPr>
        <p:spPr>
          <a:xfrm>
            <a:off x="509584" y="2078188"/>
            <a:ext cx="17268600" cy="6902498"/>
          </a:xfrm>
          <a:prstGeom prst="rect">
            <a:avLst/>
          </a:prstGeom>
          <a:noFill/>
          <a:ln>
            <a:noFill/>
          </a:ln>
        </p:spPr>
        <p:txBody>
          <a:bodyPr spcFirstLastPara="1" wrap="square" lIns="91424" tIns="91424" rIns="91424" bIns="91424" anchor="t" anchorCtr="0">
            <a:noAutofit/>
          </a:bodyPr>
          <a:lstStyle/>
          <a:p>
            <a:pPr marL="457196" indent="-457196">
              <a:buFont typeface="Arial" pitchFamily="34" charset="0"/>
              <a:buChar char="•"/>
            </a:pPr>
            <a:r>
              <a:rPr lang="en-US" sz="3200" b="1" dirty="0"/>
              <a:t>Limited Access to Medical Guidance:</a:t>
            </a:r>
            <a:r>
              <a:rPr lang="en-US" sz="3200" dirty="0"/>
              <a:t/>
            </a:r>
            <a:br>
              <a:rPr lang="en-US" sz="3200" dirty="0"/>
            </a:br>
            <a:r>
              <a:rPr lang="en-US" sz="3200" dirty="0"/>
              <a:t>Many people struggle to get quick and reliable basic medical guidance due to long hospital queues, lack of nearby doctors, or high consultation fees.</a:t>
            </a:r>
          </a:p>
          <a:p>
            <a:pPr marL="457196" indent="-457196">
              <a:buFont typeface="Arial" pitchFamily="34" charset="0"/>
              <a:buChar char="•"/>
            </a:pPr>
            <a:r>
              <a:rPr lang="en-US" sz="3200" b="1" dirty="0"/>
              <a:t>Information Overload &amp; Inaccuracy:</a:t>
            </a:r>
            <a:r>
              <a:rPr lang="en-US" sz="3200" dirty="0"/>
              <a:t/>
            </a:r>
            <a:br>
              <a:rPr lang="en-US" sz="3200" dirty="0"/>
            </a:br>
            <a:r>
              <a:rPr lang="en-US" sz="3200" dirty="0"/>
              <a:t>Users often Google symptoms and receive confusing, unreliable, or overly generic information, which may cause panic or wrong assumptions.</a:t>
            </a:r>
          </a:p>
          <a:p>
            <a:pPr marL="457196" indent="-457196">
              <a:buFont typeface="Arial" pitchFamily="34" charset="0"/>
              <a:buChar char="•"/>
            </a:pPr>
            <a:r>
              <a:rPr lang="en-US" sz="3200" b="1" dirty="0"/>
              <a:t>Delayed First-Level Diagnosis:</a:t>
            </a:r>
            <a:r>
              <a:rPr lang="en-US" sz="3200" dirty="0"/>
              <a:t/>
            </a:r>
            <a:br>
              <a:rPr lang="en-US" sz="3200" dirty="0"/>
            </a:br>
            <a:r>
              <a:rPr lang="en-US" sz="3200" dirty="0"/>
              <a:t>Minor health concerns escalate because people don’t know whether the situation needs immediate care, home remedies, or a specialist visit.</a:t>
            </a:r>
          </a:p>
          <a:p>
            <a:pPr marL="457196" indent="-457196">
              <a:buFont typeface="Arial" pitchFamily="34" charset="0"/>
              <a:buChar char="•"/>
            </a:pPr>
            <a:r>
              <a:rPr lang="en-US" sz="3200" b="1" dirty="0"/>
              <a:t>Lack of Personalized Suggestions:</a:t>
            </a:r>
            <a:r>
              <a:rPr lang="en-US" sz="3200" dirty="0"/>
              <a:t/>
            </a:r>
            <a:br>
              <a:rPr lang="en-US" sz="3200" dirty="0"/>
            </a:br>
            <a:r>
              <a:rPr lang="en-US" sz="3200" dirty="0"/>
              <a:t>Existing symptom-checker apps give generic outputs and fail to consider user's age, condition, history, or context.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grpSp>
        <p:nvGrpSpPr>
          <p:cNvPr id="271" name="Google Shape;271;g3a9904db456_1_179"/>
          <p:cNvGrpSpPr/>
          <p:nvPr/>
        </p:nvGrpSpPr>
        <p:grpSpPr>
          <a:xfrm>
            <a:off x="1" y="9769053"/>
            <a:ext cx="18288118" cy="522255"/>
            <a:chOff x="0" y="-66675"/>
            <a:chExt cx="4816592" cy="205200"/>
          </a:xfrm>
        </p:grpSpPr>
        <p:sp>
          <p:nvSpPr>
            <p:cNvPr id="272" name="Google Shape;272;g3a9904db456_1_179"/>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273" name="Google Shape;273;g3a9904db456_1_179"/>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277" name="Google Shape;277;g3a9904db456_1_179"/>
          <p:cNvSpPr txBox="1"/>
          <p:nvPr/>
        </p:nvSpPr>
        <p:spPr>
          <a:xfrm>
            <a:off x="2886960" y="671600"/>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Objective of the Project</a:t>
            </a:r>
            <a:endParaRPr sz="4800" b="1" dirty="0">
              <a:solidFill>
                <a:srgbClr val="00398B"/>
              </a:solidFill>
              <a:latin typeface="Times New Roman"/>
              <a:ea typeface="Times New Roman"/>
              <a:cs typeface="Times New Roman"/>
              <a:sym typeface="Times New Roman"/>
            </a:endParaRPr>
          </a:p>
        </p:txBody>
      </p:sp>
      <p:sp>
        <p:nvSpPr>
          <p:cNvPr id="278" name="Google Shape;278;g3a9904db456_1_179"/>
          <p:cNvSpPr txBox="1"/>
          <p:nvPr/>
        </p:nvSpPr>
        <p:spPr>
          <a:xfrm>
            <a:off x="509700" y="2078188"/>
            <a:ext cx="17268600" cy="6902498"/>
          </a:xfrm>
          <a:prstGeom prst="rect">
            <a:avLst/>
          </a:prstGeom>
          <a:noFill/>
          <a:ln>
            <a:noFill/>
          </a:ln>
        </p:spPr>
        <p:txBody>
          <a:bodyPr spcFirstLastPara="1" wrap="square" lIns="91424" tIns="91424" rIns="91424" bIns="91424" anchor="t" anchorCtr="0">
            <a:noAutofit/>
          </a:bodyPr>
          <a:lstStyle/>
          <a:p>
            <a:pPr marL="457196" indent="-457196">
              <a:buFont typeface="Arial" pitchFamily="34" charset="0"/>
              <a:buChar char="•"/>
            </a:pPr>
            <a:r>
              <a:rPr lang="en-US" sz="3200" b="1" dirty="0"/>
              <a:t>Provide instant, reliable first-level medical guidance</a:t>
            </a:r>
            <a:r>
              <a:rPr lang="en-US" sz="3200" dirty="0"/>
              <a:t> using AI to help users understand symptoms and possible causes.</a:t>
            </a:r>
          </a:p>
          <a:p>
            <a:pPr marL="457196" indent="-457196">
              <a:buFont typeface="Arial" pitchFamily="34" charset="0"/>
              <a:buChar char="•"/>
            </a:pPr>
            <a:r>
              <a:rPr lang="en-US" sz="3200" b="1" dirty="0"/>
              <a:t>Simplify medical reports</a:t>
            </a:r>
            <a:r>
              <a:rPr lang="en-US" sz="3200" dirty="0"/>
              <a:t> (CBC, LFT, KFT, lipid profile, prescriptions, etc.) by explaining results in easy-to-understand language.</a:t>
            </a:r>
          </a:p>
          <a:p>
            <a:pPr marL="457196" indent="-457196">
              <a:buFont typeface="Arial" pitchFamily="34" charset="0"/>
              <a:buChar char="•"/>
            </a:pPr>
            <a:r>
              <a:rPr lang="en-US" sz="3200" b="1" dirty="0"/>
              <a:t>Reduce unnecessary hospital visits</a:t>
            </a:r>
            <a:r>
              <a:rPr lang="en-US" sz="3200" dirty="0"/>
              <a:t> by telling users whether a condition is mild, moderate, or needs immediate medical attention.</a:t>
            </a:r>
          </a:p>
          <a:p>
            <a:pPr marL="457196" indent="-457196">
              <a:buFont typeface="Arial" pitchFamily="34" charset="0"/>
              <a:buChar char="•"/>
            </a:pPr>
            <a:r>
              <a:rPr lang="en-US" sz="3200" b="1" dirty="0"/>
              <a:t>Assist doctors and clinics</a:t>
            </a:r>
            <a:r>
              <a:rPr lang="en-US" sz="3200" dirty="0"/>
              <a:t> by filtering common queries and reducing repetitive questions.</a:t>
            </a:r>
          </a:p>
          <a:p>
            <a:pPr marL="457196" indent="-457196">
              <a:buFont typeface="Arial" pitchFamily="34" charset="0"/>
              <a:buChar char="•"/>
            </a:pPr>
            <a:r>
              <a:rPr lang="en-US" sz="3200" b="1" dirty="0"/>
              <a:t>Offer personalized healthcare advice</a:t>
            </a:r>
            <a:r>
              <a:rPr lang="en-US" sz="3200" dirty="0"/>
              <a:t> based on age, symptoms, vitals, and user context.</a:t>
            </a:r>
          </a:p>
          <a:p>
            <a:pPr marL="457196" indent="-457196">
              <a:buFont typeface="Arial" pitchFamily="34" charset="0"/>
              <a:buChar char="•"/>
            </a:pPr>
            <a:r>
              <a:rPr lang="en-US" sz="3200" b="1" dirty="0"/>
              <a:t>Bridge the healthcare access gap</a:t>
            </a:r>
            <a:r>
              <a:rPr lang="en-US" sz="3200" dirty="0"/>
              <a:t> for rural, remote, or low-resource areas with AI-powered support.</a:t>
            </a:r>
          </a:p>
          <a:p>
            <a:pPr marL="457196" indent="-457196">
              <a:buFont typeface="Arial" pitchFamily="34" charset="0"/>
              <a:buChar char="•"/>
            </a:pPr>
            <a:r>
              <a:rPr lang="en-US" sz="3200" b="1" dirty="0"/>
              <a:t>Promote preventive healthcare</a:t>
            </a:r>
            <a:r>
              <a:rPr lang="en-US" sz="3200" dirty="0"/>
              <a:t> through reminders, risk alerts, and lifestyle suggestions.</a:t>
            </a:r>
          </a:p>
          <a:p>
            <a:pPr marL="457196" indent="-457196">
              <a:buFont typeface="Arial" pitchFamily="34" charset="0"/>
              <a:buChar char="•"/>
            </a:pPr>
            <a:r>
              <a:rPr lang="en-US" sz="3200" b="1" dirty="0"/>
              <a:t>Provide multilingual medical assistance</a:t>
            </a:r>
            <a:r>
              <a:rPr lang="en-US" sz="3200" dirty="0"/>
              <a:t> so users can understand health information in their preferred language.</a:t>
            </a:r>
          </a:p>
          <a:p>
            <a:pPr marL="457196" indent="-457196">
              <a:buFont typeface="Arial" pitchFamily="34" charset="0"/>
              <a:buChar char="•"/>
            </a:pPr>
            <a:r>
              <a:rPr lang="en-US" sz="3200" b="1" dirty="0"/>
              <a:t>Act as a smart companion</a:t>
            </a:r>
            <a:r>
              <a:rPr lang="en-US" sz="3200" dirty="0"/>
              <a:t> that stores and analyzes previous interactions, symptoms, and report history</a:t>
            </a:r>
            <a:r>
              <a:rPr lang="en-US" sz="3200" dirty="0"/>
              <a:t>.</a:t>
            </a:r>
            <a:endParaRPr lang="en-US" sz="3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grpSp>
        <p:nvGrpSpPr>
          <p:cNvPr id="284" name="Google Shape;284;g3a9904db456_1_191"/>
          <p:cNvGrpSpPr/>
          <p:nvPr/>
        </p:nvGrpSpPr>
        <p:grpSpPr>
          <a:xfrm>
            <a:off x="1" y="9769053"/>
            <a:ext cx="18288118" cy="522255"/>
            <a:chOff x="0" y="-66675"/>
            <a:chExt cx="4816592" cy="205200"/>
          </a:xfrm>
        </p:grpSpPr>
        <p:sp>
          <p:nvSpPr>
            <p:cNvPr id="285" name="Google Shape;285;g3a9904db456_1_191"/>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286" name="Google Shape;286;g3a9904db456_1_191"/>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290" name="Google Shape;290;g3a9904db456_1_191"/>
          <p:cNvSpPr txBox="1"/>
          <p:nvPr/>
        </p:nvSpPr>
        <p:spPr>
          <a:xfrm>
            <a:off x="3075500" y="456669"/>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Solution Design &amp; Innovation</a:t>
            </a:r>
            <a:endParaRPr sz="4800" b="1" dirty="0">
              <a:solidFill>
                <a:srgbClr val="00398B"/>
              </a:solidFill>
              <a:latin typeface="Times New Roman"/>
              <a:ea typeface="Times New Roman"/>
              <a:cs typeface="Times New Roman"/>
              <a:sym typeface="Times New Roman"/>
            </a:endParaRPr>
          </a:p>
        </p:txBody>
      </p:sp>
      <p:sp>
        <p:nvSpPr>
          <p:cNvPr id="291" name="Google Shape;291;g3a9904db456_1_191"/>
          <p:cNvSpPr txBox="1"/>
          <p:nvPr/>
        </p:nvSpPr>
        <p:spPr>
          <a:xfrm>
            <a:off x="698300" y="2097750"/>
            <a:ext cx="17268600" cy="4120170"/>
          </a:xfrm>
          <a:prstGeom prst="rect">
            <a:avLst/>
          </a:prstGeom>
          <a:noFill/>
          <a:ln>
            <a:noFill/>
          </a:ln>
        </p:spPr>
        <p:txBody>
          <a:bodyPr spcFirstLastPara="1" wrap="square" lIns="91424" tIns="91424" rIns="91424" bIns="91424" anchor="t" anchorCtr="0">
            <a:noAutofit/>
          </a:bodyPr>
          <a:lstStyle/>
          <a:p>
            <a:pPr marL="457196" indent="-457196">
              <a:buFont typeface="Arial" pitchFamily="34" charset="0"/>
              <a:buChar char="•"/>
            </a:pPr>
            <a:r>
              <a:rPr lang="en-IN" sz="3200" b="1" dirty="0"/>
              <a:t>Frontend:</a:t>
            </a:r>
            <a:r>
              <a:rPr lang="en-IN" sz="3200" dirty="0"/>
              <a:t> Chat UI with voice, report upload, history, multilingual support.</a:t>
            </a:r>
          </a:p>
          <a:p>
            <a:pPr marL="457196" indent="-457196">
              <a:buFont typeface="Arial" pitchFamily="34" charset="0"/>
              <a:buChar char="•"/>
            </a:pPr>
            <a:r>
              <a:rPr lang="en-IN" sz="3200" b="1" dirty="0"/>
              <a:t>Backend:</a:t>
            </a:r>
            <a:r>
              <a:rPr lang="en-IN" sz="3200" dirty="0"/>
              <a:t> Node.js API orchestrating AI, OCR &amp; rule engine.</a:t>
            </a:r>
          </a:p>
          <a:p>
            <a:pPr marL="457196" indent="-457196">
              <a:buFont typeface="Arial" pitchFamily="34" charset="0"/>
              <a:buChar char="•"/>
            </a:pPr>
            <a:r>
              <a:rPr lang="en-IN" sz="3200" b="1" dirty="0"/>
              <a:t>AI Layer:</a:t>
            </a:r>
            <a:endParaRPr lang="en-IN" sz="3200" dirty="0"/>
          </a:p>
          <a:p>
            <a:pPr marL="457196" indent="-457196">
              <a:buFont typeface="Arial" pitchFamily="34" charset="0"/>
              <a:buChar char="•"/>
            </a:pPr>
            <a:r>
              <a:rPr lang="en-IN" sz="3200" dirty="0"/>
              <a:t>LLM for conversation &amp; explanations.</a:t>
            </a:r>
          </a:p>
          <a:p>
            <a:pPr marL="457196" indent="-457196">
              <a:buFont typeface="Arial" pitchFamily="34" charset="0"/>
              <a:buChar char="•"/>
            </a:pPr>
            <a:r>
              <a:rPr lang="en-IN" sz="3200" dirty="0"/>
              <a:t>OCR for report extraction.</a:t>
            </a:r>
          </a:p>
          <a:p>
            <a:pPr marL="457196" indent="-457196">
              <a:buFont typeface="Arial" pitchFamily="34" charset="0"/>
              <a:buChar char="•"/>
            </a:pPr>
            <a:r>
              <a:rPr lang="en-IN" sz="3200" dirty="0"/>
              <a:t>Rule-based triage for safety (red/yellow/green).</a:t>
            </a:r>
          </a:p>
          <a:p>
            <a:pPr marL="457196" indent="-457196">
              <a:buFont typeface="Arial" pitchFamily="34" charset="0"/>
              <a:buChar char="•"/>
            </a:pPr>
            <a:r>
              <a:rPr lang="en-IN" sz="3200" b="1" dirty="0"/>
              <a:t>Database:</a:t>
            </a:r>
            <a:r>
              <a:rPr lang="en-IN" sz="3200" dirty="0"/>
              <a:t> Encrypted user data, report storage, medical knowledge base.</a:t>
            </a:r>
          </a:p>
          <a:p>
            <a:pPr marL="457196" indent="-457196">
              <a:buFont typeface="Arial" pitchFamily="34" charset="0"/>
              <a:buChar char="•"/>
            </a:pPr>
            <a:r>
              <a:rPr lang="en-IN" sz="3200" b="1" dirty="0"/>
              <a:t>Admin Panel:</a:t>
            </a:r>
            <a:r>
              <a:rPr lang="en-IN" sz="3200" dirty="0"/>
              <a:t> Doctors view flagged cases &amp; summaries</a:t>
            </a:r>
            <a:r>
              <a:rPr lang="en-IN" sz="3200" dirty="0"/>
              <a:t>.</a:t>
            </a:r>
          </a:p>
          <a:p>
            <a:pPr marL="457196" indent="-457196">
              <a:buFont typeface="Arial" pitchFamily="34" charset="0"/>
              <a:buChar char="•"/>
            </a:pPr>
            <a:r>
              <a:rPr lang="en-US" sz="3200" b="1" dirty="0"/>
              <a:t>Hybrid safety-first architecture</a:t>
            </a:r>
            <a:r>
              <a:rPr lang="en-US" sz="3200" dirty="0"/>
              <a:t> — LLM creativity + deterministic medical rules ensures better safety than pure </a:t>
            </a:r>
            <a:r>
              <a:rPr lang="en-US" sz="3200" dirty="0" err="1"/>
              <a:t>chatbots</a:t>
            </a:r>
            <a:r>
              <a:rPr lang="en-US" sz="3200" dirty="0"/>
              <a:t>.</a:t>
            </a:r>
          </a:p>
          <a:p>
            <a:pPr marL="457196" indent="-457196">
              <a:buFont typeface="Arial" pitchFamily="34" charset="0"/>
              <a:buChar char="•"/>
            </a:pPr>
            <a:r>
              <a:rPr lang="en-US" sz="3200" b="1" dirty="0"/>
              <a:t>Report auto-explain with context-aware ranges</a:t>
            </a:r>
            <a:r>
              <a:rPr lang="en-US" sz="3200" dirty="0"/>
              <a:t> — explains labs with age/sex-specific ranges and simple actions.</a:t>
            </a:r>
          </a:p>
          <a:p>
            <a:pPr marL="457196" indent="-457196">
              <a:buFont typeface="Arial" pitchFamily="34" charset="0"/>
              <a:buChar char="•"/>
            </a:pPr>
            <a:r>
              <a:rPr lang="en-US" sz="3200" b="1" dirty="0"/>
              <a:t>Conversational escalation with pre-filled doctor summary</a:t>
            </a:r>
            <a:r>
              <a:rPr lang="en-US" sz="3200" dirty="0"/>
              <a:t> — saves doctor time and improves triage efficiency.</a:t>
            </a:r>
          </a:p>
          <a:p>
            <a:pPr marL="457196" indent="-457196">
              <a:buFont typeface="Arial" pitchFamily="34" charset="0"/>
              <a:buChar char="•"/>
            </a:pPr>
            <a:endParaRPr lang="en-IN" sz="3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grpSp>
        <p:nvGrpSpPr>
          <p:cNvPr id="297" name="Google Shape;297;g3a9904db456_1_203"/>
          <p:cNvGrpSpPr/>
          <p:nvPr/>
        </p:nvGrpSpPr>
        <p:grpSpPr>
          <a:xfrm>
            <a:off x="1" y="9769053"/>
            <a:ext cx="18288118" cy="522255"/>
            <a:chOff x="0" y="-66675"/>
            <a:chExt cx="4816592" cy="205200"/>
          </a:xfrm>
        </p:grpSpPr>
        <p:sp>
          <p:nvSpPr>
            <p:cNvPr id="298" name="Google Shape;298;g3a9904db456_1_203"/>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299" name="Google Shape;299;g3a9904db456_1_203"/>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303" name="Google Shape;303;g3a9904db456_1_203"/>
          <p:cNvSpPr txBox="1"/>
          <p:nvPr/>
        </p:nvSpPr>
        <p:spPr>
          <a:xfrm>
            <a:off x="3075500" y="400685"/>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Solution Workflow / Approach</a:t>
            </a:r>
            <a:endParaRPr sz="4800" b="1" dirty="0">
              <a:solidFill>
                <a:srgbClr val="00398B"/>
              </a:solidFill>
              <a:latin typeface="Times New Roman"/>
              <a:ea typeface="Times New Roman"/>
              <a:cs typeface="Times New Roman"/>
              <a:sym typeface="Times New Roman"/>
            </a:endParaRPr>
          </a:p>
        </p:txBody>
      </p:sp>
      <p:sp>
        <p:nvSpPr>
          <p:cNvPr id="304" name="Google Shape;304;g3a9904db456_1_203"/>
          <p:cNvSpPr txBox="1"/>
          <p:nvPr/>
        </p:nvSpPr>
        <p:spPr>
          <a:xfrm>
            <a:off x="696304" y="1902143"/>
            <a:ext cx="17268600" cy="5583210"/>
          </a:xfrm>
          <a:prstGeom prst="rect">
            <a:avLst/>
          </a:prstGeom>
          <a:noFill/>
          <a:ln>
            <a:noFill/>
          </a:ln>
        </p:spPr>
        <p:txBody>
          <a:bodyPr spcFirstLastPara="1" wrap="square" lIns="91424" tIns="91424" rIns="91424" bIns="91424" anchor="t" anchorCtr="0">
            <a:noAutofit/>
          </a:bodyPr>
          <a:lstStyle/>
          <a:p>
            <a:pPr marL="457196" indent="-457196">
              <a:buFont typeface="Arial" pitchFamily="34" charset="0"/>
              <a:buChar char="•"/>
            </a:pPr>
            <a:r>
              <a:rPr lang="en-IN" sz="3200" b="1" dirty="0"/>
              <a:t>User Entry</a:t>
            </a:r>
            <a:endParaRPr lang="en-IN" sz="3200" dirty="0"/>
          </a:p>
          <a:p>
            <a:pPr marL="457196" indent="-457196">
              <a:buFont typeface="Arial" pitchFamily="34" charset="0"/>
              <a:buChar char="•"/>
            </a:pPr>
            <a:r>
              <a:rPr lang="en-IN" sz="3200" dirty="0"/>
              <a:t>Inputs: free-text chat, structured symptom form, voice, or upload (image/PDF of reports).</a:t>
            </a:r>
          </a:p>
          <a:p>
            <a:pPr marL="457196" indent="-457196">
              <a:buFont typeface="Arial" pitchFamily="34" charset="0"/>
              <a:buChar char="•"/>
            </a:pPr>
            <a:r>
              <a:rPr lang="en-IN" sz="3200" dirty="0"/>
              <a:t>Quick pre-check: collect age, sex, major conditions, allergies, current meds.</a:t>
            </a:r>
          </a:p>
          <a:p>
            <a:pPr marL="457196" indent="-457196">
              <a:buFont typeface="Arial" pitchFamily="34" charset="0"/>
              <a:buChar char="•"/>
            </a:pPr>
            <a:r>
              <a:rPr lang="en-IN" sz="3200" b="1" dirty="0"/>
              <a:t>Pre-processing</a:t>
            </a:r>
            <a:endParaRPr lang="en-IN" sz="3200" dirty="0"/>
          </a:p>
          <a:p>
            <a:pPr marL="457196" indent="-457196">
              <a:buFont typeface="Arial" pitchFamily="34" charset="0"/>
              <a:buChar char="•"/>
            </a:pPr>
            <a:r>
              <a:rPr lang="en-IN" sz="3200" dirty="0"/>
              <a:t>Sanitize text, normalize units, run language detection/translations.</a:t>
            </a:r>
          </a:p>
          <a:p>
            <a:pPr marL="457196" indent="-457196">
              <a:buFont typeface="Arial" pitchFamily="34" charset="0"/>
              <a:buChar char="•"/>
            </a:pPr>
            <a:r>
              <a:rPr lang="en-IN" sz="3200" dirty="0"/>
              <a:t>If voice → speech-to-text; if image/PDF → OCR.</a:t>
            </a:r>
          </a:p>
          <a:p>
            <a:pPr marL="457196" indent="-457196">
              <a:buFont typeface="Arial" pitchFamily="34" charset="0"/>
              <a:buChar char="•"/>
            </a:pPr>
            <a:r>
              <a:rPr lang="en-IN" sz="3200" b="1" dirty="0"/>
              <a:t>Information Extraction</a:t>
            </a:r>
            <a:endParaRPr lang="en-IN" sz="3200" dirty="0"/>
          </a:p>
          <a:p>
            <a:pPr marL="457196" indent="-457196">
              <a:buFont typeface="Arial" pitchFamily="34" charset="0"/>
              <a:buChar char="•"/>
            </a:pPr>
            <a:r>
              <a:rPr lang="en-IN" sz="3200" dirty="0"/>
              <a:t>Parse OCR → identify test names, values, units, reference ranges.</a:t>
            </a:r>
          </a:p>
          <a:p>
            <a:pPr marL="457196" indent="-457196">
              <a:buFont typeface="Arial" pitchFamily="34" charset="0"/>
              <a:buChar char="•"/>
            </a:pPr>
            <a:r>
              <a:rPr lang="en-IN" sz="3200" dirty="0"/>
              <a:t>Extract symptom entities, durations, severity from text (NER + regex).</a:t>
            </a:r>
          </a:p>
          <a:p>
            <a:pPr marL="457196" indent="-457196">
              <a:buFont typeface="Arial" pitchFamily="34" charset="0"/>
              <a:buChar char="•"/>
            </a:pPr>
            <a:r>
              <a:rPr lang="en-IN" sz="3200" b="1" dirty="0"/>
              <a:t>Context Assembly</a:t>
            </a:r>
            <a:endParaRPr lang="en-IN" sz="3200" dirty="0"/>
          </a:p>
          <a:p>
            <a:pPr marL="457196" indent="-457196">
              <a:buFont typeface="Arial" pitchFamily="34" charset="0"/>
              <a:buChar char="•"/>
            </a:pPr>
            <a:r>
              <a:rPr lang="en-IN" sz="3200" dirty="0"/>
              <a:t>Build a structured context bundle: user profile, vitals reported, extracted lab values, symptom timeline, recent history.</a:t>
            </a:r>
          </a:p>
          <a:p>
            <a:pPr marL="457196" indent="-457196">
              <a:buFont typeface="Arial" pitchFamily="34" charset="0"/>
              <a:buChar char="•"/>
            </a:pPr>
            <a:r>
              <a:rPr lang="en-IN" sz="3200" b="1" dirty="0"/>
              <a:t>Deterministic Safety Check (Rule Engine)</a:t>
            </a:r>
            <a:endParaRPr lang="en-IN" sz="3200" dirty="0"/>
          </a:p>
          <a:p>
            <a:pPr marL="457196" indent="-457196">
              <a:buFont typeface="Arial" pitchFamily="34" charset="0"/>
              <a:buChar char="•"/>
            </a:pPr>
            <a:r>
              <a:rPr lang="en-IN" sz="3200" dirty="0"/>
              <a:t>Apply hard safety rules (red flags). Example: chest pain + breathlessness → urgent escalation.</a:t>
            </a:r>
          </a:p>
          <a:p>
            <a:endParaRPr lang="en-IN" sz="3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grpSp>
        <p:nvGrpSpPr>
          <p:cNvPr id="310" name="Google Shape;310;g3a9904db456_1_215"/>
          <p:cNvGrpSpPr/>
          <p:nvPr/>
        </p:nvGrpSpPr>
        <p:grpSpPr>
          <a:xfrm>
            <a:off x="1" y="9769053"/>
            <a:ext cx="18288118" cy="522255"/>
            <a:chOff x="0" y="-66675"/>
            <a:chExt cx="4816592" cy="205200"/>
          </a:xfrm>
        </p:grpSpPr>
        <p:sp>
          <p:nvSpPr>
            <p:cNvPr id="311" name="Google Shape;311;g3a9904db456_1_215"/>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312" name="Google Shape;312;g3a9904db456_1_215"/>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316" name="Google Shape;316;g3a9904db456_1_215"/>
          <p:cNvSpPr txBox="1"/>
          <p:nvPr/>
        </p:nvSpPr>
        <p:spPr>
          <a:xfrm>
            <a:off x="3075500" y="176750"/>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a:solidFill>
                  <a:srgbClr val="00398B"/>
                </a:solidFill>
                <a:latin typeface="Times New Roman"/>
                <a:ea typeface="Times New Roman"/>
                <a:cs typeface="Times New Roman"/>
                <a:sym typeface="Times New Roman"/>
              </a:rPr>
              <a:t>Architecture Diagram</a:t>
            </a:r>
            <a:endParaRPr sz="4800" b="1">
              <a:solidFill>
                <a:srgbClr val="00398B"/>
              </a:solidFill>
              <a:latin typeface="Times New Roman"/>
              <a:ea typeface="Times New Roman"/>
              <a:cs typeface="Times New Roman"/>
              <a:sym typeface="Times New Roman"/>
            </a:endParaRPr>
          </a:p>
        </p:txBody>
      </p:sp>
      <p:sp>
        <p:nvSpPr>
          <p:cNvPr id="317" name="Google Shape;317;g3a9904db456_1_215"/>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algn="just">
              <a:buSzPts val="3200"/>
            </a:pPr>
            <a:endParaRPr sz="3200" dirty="0">
              <a:solidFill>
                <a:schemeClr val="dk1"/>
              </a:solidFill>
              <a:latin typeface="Times New Roman"/>
              <a:ea typeface="Times New Roman"/>
              <a:cs typeface="Times New Roman"/>
              <a:sym typeface="Times New Roman"/>
            </a:endParaRPr>
          </a:p>
        </p:txBody>
      </p:sp>
      <p:pic>
        <p:nvPicPr>
          <p:cNvPr id="12" name="Picture 2" descr="C:\Users\hp\OneDrive\Desktop\ansh02\bhilare_projects\doctor-ai-anshul-main\connyellowlates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4762" y="1586204"/>
            <a:ext cx="14126409" cy="74776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pSp>
        <p:nvGrpSpPr>
          <p:cNvPr id="164" name="Google Shape;164;g39cc3c61c01_0_48"/>
          <p:cNvGrpSpPr/>
          <p:nvPr/>
        </p:nvGrpSpPr>
        <p:grpSpPr>
          <a:xfrm>
            <a:off x="1" y="9769053"/>
            <a:ext cx="18288118" cy="522255"/>
            <a:chOff x="0" y="-66675"/>
            <a:chExt cx="4816592" cy="205200"/>
          </a:xfrm>
        </p:grpSpPr>
        <p:sp>
          <p:nvSpPr>
            <p:cNvPr id="165" name="Google Shape;165;g39cc3c61c01_0_48"/>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166" name="Google Shape;166;g39cc3c61c01_0_48"/>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170" name="Google Shape;170;g39cc3c61c01_0_48"/>
          <p:cNvSpPr txBox="1"/>
          <p:nvPr/>
        </p:nvSpPr>
        <p:spPr>
          <a:xfrm>
            <a:off x="3075500" y="176750"/>
            <a:ext cx="12514200" cy="989700"/>
          </a:xfrm>
          <a:prstGeom prst="rect">
            <a:avLst/>
          </a:prstGeom>
          <a:noFill/>
          <a:ln>
            <a:noFill/>
          </a:ln>
        </p:spPr>
        <p:txBody>
          <a:bodyPr spcFirstLastPara="1" wrap="square" lIns="91424" tIns="91424" rIns="91424" bIns="91424" anchor="t" anchorCtr="0">
            <a:noAutofit/>
          </a:bodyPr>
          <a:lstStyle/>
          <a:p>
            <a:pPr algn="ctr"/>
            <a:endParaRPr sz="4800" b="1" dirty="0">
              <a:solidFill>
                <a:srgbClr val="00398B"/>
              </a:solidFill>
              <a:latin typeface="Times New Roman"/>
              <a:ea typeface="Times New Roman"/>
              <a:cs typeface="Times New Roman"/>
              <a:sym typeface="Times New Roman"/>
            </a:endParaRPr>
          </a:p>
        </p:txBody>
      </p:sp>
      <p:sp>
        <p:nvSpPr>
          <p:cNvPr id="171" name="Google Shape;171;g39cc3c61c01_0_48"/>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algn="just"/>
            <a:endParaRPr sz="3200">
              <a:solidFill>
                <a:schemeClr val="dk1"/>
              </a:solidFill>
              <a:latin typeface="Times New Roman"/>
              <a:ea typeface="Times New Roman"/>
              <a:cs typeface="Times New Roman"/>
              <a:sym typeface="Times New Roman"/>
            </a:endParaRPr>
          </a:p>
        </p:txBody>
      </p:sp>
      <p:pic>
        <p:nvPicPr>
          <p:cNvPr id="10" name="Picture 2" descr="C:\Users\hp\OneDrive\Desktop\ansh02\bhilare_projects\doctor-ai-anshul-main\mongoandyellowdonecon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490" y="1315741"/>
            <a:ext cx="14491854" cy="77241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41666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pSp>
        <p:nvGrpSpPr>
          <p:cNvPr id="164" name="Google Shape;164;g39cc3c61c01_0_48"/>
          <p:cNvGrpSpPr/>
          <p:nvPr/>
        </p:nvGrpSpPr>
        <p:grpSpPr>
          <a:xfrm>
            <a:off x="1" y="9769053"/>
            <a:ext cx="18288118" cy="522255"/>
            <a:chOff x="0" y="-66675"/>
            <a:chExt cx="4816592" cy="205200"/>
          </a:xfrm>
        </p:grpSpPr>
        <p:sp>
          <p:nvSpPr>
            <p:cNvPr id="165" name="Google Shape;165;g39cc3c61c01_0_48"/>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166" name="Google Shape;166;g39cc3c61c01_0_48"/>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170" name="Google Shape;170;g39cc3c61c01_0_48"/>
          <p:cNvSpPr txBox="1"/>
          <p:nvPr/>
        </p:nvSpPr>
        <p:spPr>
          <a:xfrm>
            <a:off x="3075500" y="176750"/>
            <a:ext cx="12514200" cy="989700"/>
          </a:xfrm>
          <a:prstGeom prst="rect">
            <a:avLst/>
          </a:prstGeom>
          <a:noFill/>
          <a:ln>
            <a:noFill/>
          </a:ln>
        </p:spPr>
        <p:txBody>
          <a:bodyPr spcFirstLastPara="1" wrap="square" lIns="91424" tIns="91424" rIns="91424" bIns="91424" anchor="t" anchorCtr="0">
            <a:noAutofit/>
          </a:bodyPr>
          <a:lstStyle/>
          <a:p>
            <a:pPr algn="ctr"/>
            <a:endParaRPr sz="4800" b="1" dirty="0">
              <a:solidFill>
                <a:srgbClr val="00398B"/>
              </a:solidFill>
              <a:latin typeface="Times New Roman"/>
              <a:ea typeface="Times New Roman"/>
              <a:cs typeface="Times New Roman"/>
              <a:sym typeface="Times New Roman"/>
            </a:endParaRPr>
          </a:p>
        </p:txBody>
      </p:sp>
      <p:sp>
        <p:nvSpPr>
          <p:cNvPr id="171" name="Google Shape;171;g39cc3c61c01_0_48"/>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algn="just"/>
            <a:endParaRPr sz="3200">
              <a:solidFill>
                <a:schemeClr val="dk1"/>
              </a:solidFill>
              <a:latin typeface="Times New Roman"/>
              <a:ea typeface="Times New Roman"/>
              <a:cs typeface="Times New Roman"/>
              <a:sym typeface="Times New Roman"/>
            </a:endParaRPr>
          </a:p>
        </p:txBody>
      </p:sp>
      <p:pic>
        <p:nvPicPr>
          <p:cNvPr id="10" name="Picture 2" descr="C:\Users\hp\OneDrive\Desktop\ansh02\bhilare_projects\doctor-ai-anshul-main\connyellowlates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3499" y="1007706"/>
            <a:ext cx="15301122" cy="8099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29339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pSp>
        <p:nvGrpSpPr>
          <p:cNvPr id="164" name="Google Shape;164;g39cc3c61c01_0_48"/>
          <p:cNvGrpSpPr/>
          <p:nvPr/>
        </p:nvGrpSpPr>
        <p:grpSpPr>
          <a:xfrm>
            <a:off x="1" y="9769053"/>
            <a:ext cx="18288118" cy="522255"/>
            <a:chOff x="0" y="-66675"/>
            <a:chExt cx="4816592" cy="205200"/>
          </a:xfrm>
        </p:grpSpPr>
        <p:sp>
          <p:nvSpPr>
            <p:cNvPr id="165" name="Google Shape;165;g39cc3c61c01_0_48"/>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166" name="Google Shape;166;g39cc3c61c01_0_48"/>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170" name="Google Shape;170;g39cc3c61c01_0_48"/>
          <p:cNvSpPr txBox="1"/>
          <p:nvPr/>
        </p:nvSpPr>
        <p:spPr>
          <a:xfrm>
            <a:off x="3075500" y="176750"/>
            <a:ext cx="12514200" cy="989700"/>
          </a:xfrm>
          <a:prstGeom prst="rect">
            <a:avLst/>
          </a:prstGeom>
          <a:noFill/>
          <a:ln>
            <a:noFill/>
          </a:ln>
        </p:spPr>
        <p:txBody>
          <a:bodyPr spcFirstLastPara="1" wrap="square" lIns="91424" tIns="91424" rIns="91424" bIns="91424" anchor="t" anchorCtr="0">
            <a:noAutofit/>
          </a:bodyPr>
          <a:lstStyle/>
          <a:p>
            <a:pPr algn="ctr"/>
            <a:endParaRPr sz="4800" b="1" dirty="0">
              <a:solidFill>
                <a:srgbClr val="00398B"/>
              </a:solidFill>
              <a:latin typeface="Times New Roman"/>
              <a:ea typeface="Times New Roman"/>
              <a:cs typeface="Times New Roman"/>
              <a:sym typeface="Times New Roman"/>
            </a:endParaRPr>
          </a:p>
        </p:txBody>
      </p:sp>
      <p:sp>
        <p:nvSpPr>
          <p:cNvPr id="171" name="Google Shape;171;g39cc3c61c01_0_48"/>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algn="just"/>
            <a:endParaRPr sz="3200">
              <a:solidFill>
                <a:schemeClr val="dk1"/>
              </a:solidFill>
              <a:latin typeface="Times New Roman"/>
              <a:ea typeface="Times New Roman"/>
              <a:cs typeface="Times New Roman"/>
              <a:sym typeface="Times New Roman"/>
            </a:endParaRPr>
          </a:p>
        </p:txBody>
      </p:sp>
      <p:pic>
        <p:nvPicPr>
          <p:cNvPr id="10" name="Picture 2" descr="C:\Users\hp\OneDrive\Desktop\anshpl\doctor_ai_app\doctor-ai-anshul\a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255" y="1166450"/>
            <a:ext cx="16003312" cy="8206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4122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pSp>
        <p:nvGrpSpPr>
          <p:cNvPr id="164" name="Google Shape;164;g39cc3c61c01_0_48"/>
          <p:cNvGrpSpPr/>
          <p:nvPr/>
        </p:nvGrpSpPr>
        <p:grpSpPr>
          <a:xfrm>
            <a:off x="1" y="9769053"/>
            <a:ext cx="18288118" cy="522255"/>
            <a:chOff x="0" y="-66675"/>
            <a:chExt cx="4816592" cy="205200"/>
          </a:xfrm>
        </p:grpSpPr>
        <p:sp>
          <p:nvSpPr>
            <p:cNvPr id="165" name="Google Shape;165;g39cc3c61c01_0_48"/>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166" name="Google Shape;166;g39cc3c61c01_0_48"/>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170" name="Google Shape;170;g39cc3c61c01_0_48"/>
          <p:cNvSpPr txBox="1"/>
          <p:nvPr/>
        </p:nvSpPr>
        <p:spPr>
          <a:xfrm>
            <a:off x="3075500" y="176750"/>
            <a:ext cx="12514200" cy="989700"/>
          </a:xfrm>
          <a:prstGeom prst="rect">
            <a:avLst/>
          </a:prstGeom>
          <a:noFill/>
          <a:ln>
            <a:noFill/>
          </a:ln>
        </p:spPr>
        <p:txBody>
          <a:bodyPr spcFirstLastPara="1" wrap="square" lIns="91424" tIns="91424" rIns="91424" bIns="91424" anchor="t" anchorCtr="0">
            <a:noAutofit/>
          </a:bodyPr>
          <a:lstStyle/>
          <a:p>
            <a:pPr algn="ctr"/>
            <a:endParaRPr sz="4800" b="1" dirty="0">
              <a:solidFill>
                <a:srgbClr val="00398B"/>
              </a:solidFill>
              <a:latin typeface="Times New Roman"/>
              <a:ea typeface="Times New Roman"/>
              <a:cs typeface="Times New Roman"/>
              <a:sym typeface="Times New Roman"/>
            </a:endParaRPr>
          </a:p>
        </p:txBody>
      </p:sp>
      <p:sp>
        <p:nvSpPr>
          <p:cNvPr id="171" name="Google Shape;171;g39cc3c61c01_0_48"/>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algn="just"/>
            <a:endParaRPr sz="3200">
              <a:solidFill>
                <a:schemeClr val="dk1"/>
              </a:solidFill>
              <a:latin typeface="Times New Roman"/>
              <a:ea typeface="Times New Roman"/>
              <a:cs typeface="Times New Roman"/>
              <a:sym typeface="Times New Roman"/>
            </a:endParaRPr>
          </a:p>
        </p:txBody>
      </p:sp>
      <p:pic>
        <p:nvPicPr>
          <p:cNvPr id="2051" name="Picture 3" descr="C:\Users\hp\OneDrive\Desktop\anshnew\adv_doctorai\doctor-ai-anshul\new_pic\pic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554" y="613418"/>
            <a:ext cx="16594582" cy="8194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41710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grpSp>
        <p:nvGrpSpPr>
          <p:cNvPr id="164" name="Google Shape;164;g39cc3c61c01_0_48"/>
          <p:cNvGrpSpPr/>
          <p:nvPr/>
        </p:nvGrpSpPr>
        <p:grpSpPr>
          <a:xfrm>
            <a:off x="1" y="9769053"/>
            <a:ext cx="18288118" cy="522255"/>
            <a:chOff x="0" y="-66675"/>
            <a:chExt cx="4816592" cy="205200"/>
          </a:xfrm>
        </p:grpSpPr>
        <p:sp>
          <p:nvSpPr>
            <p:cNvPr id="165" name="Google Shape;165;g39cc3c61c01_0_48"/>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166" name="Google Shape;166;g39cc3c61c01_0_48"/>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170" name="Google Shape;170;g39cc3c61c01_0_48"/>
          <p:cNvSpPr txBox="1"/>
          <p:nvPr/>
        </p:nvSpPr>
        <p:spPr>
          <a:xfrm>
            <a:off x="3075500" y="176750"/>
            <a:ext cx="12514200" cy="989700"/>
          </a:xfrm>
          <a:prstGeom prst="rect">
            <a:avLst/>
          </a:prstGeom>
          <a:noFill/>
          <a:ln>
            <a:noFill/>
          </a:ln>
        </p:spPr>
        <p:txBody>
          <a:bodyPr spcFirstLastPara="1" wrap="square" lIns="91424" tIns="91424" rIns="91424" bIns="91424" anchor="t" anchorCtr="0">
            <a:noAutofit/>
          </a:bodyPr>
          <a:lstStyle/>
          <a:p>
            <a:pPr algn="ctr"/>
            <a:endParaRPr sz="4800" b="1" dirty="0">
              <a:solidFill>
                <a:srgbClr val="00398B"/>
              </a:solidFill>
              <a:latin typeface="Times New Roman"/>
              <a:ea typeface="Times New Roman"/>
              <a:cs typeface="Times New Roman"/>
              <a:sym typeface="Times New Roman"/>
            </a:endParaRPr>
          </a:p>
        </p:txBody>
      </p:sp>
      <p:sp>
        <p:nvSpPr>
          <p:cNvPr id="171" name="Google Shape;171;g39cc3c61c01_0_48"/>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algn="just"/>
            <a:endParaRPr sz="3200">
              <a:solidFill>
                <a:schemeClr val="dk1"/>
              </a:solidFill>
              <a:latin typeface="Times New Roman"/>
              <a:ea typeface="Times New Roman"/>
              <a:cs typeface="Times New Roman"/>
              <a:sym typeface="Times New Roman"/>
            </a:endParaRPr>
          </a:p>
        </p:txBody>
      </p:sp>
      <p:pic>
        <p:nvPicPr>
          <p:cNvPr id="1026" name="Picture 2" descr="C:\Users\hp\OneDrive\Desktop\anshnew\adv_doctorai\doctor-ai-anshul\new_pic\pic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8940" y="1166450"/>
            <a:ext cx="15288840" cy="7589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300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hp\OneDrive\Desktop\anshnew\adv_doctorai\doctor-ai-anshul\new_pic\mongodb_pics\appointment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050" y="858416"/>
            <a:ext cx="15067554" cy="8075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574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hp\OneDrive\Desktop\anshnew\adv_doctorai\doctor-ai-anshul\new_pic\mongodb_pics\docto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3608" y="962685"/>
            <a:ext cx="15768735" cy="84509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83191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grpSp>
        <p:nvGrpSpPr>
          <p:cNvPr id="323" name="Google Shape;323;g3a9904db456_1_227"/>
          <p:cNvGrpSpPr/>
          <p:nvPr/>
        </p:nvGrpSpPr>
        <p:grpSpPr>
          <a:xfrm>
            <a:off x="1" y="9769053"/>
            <a:ext cx="18288118" cy="522255"/>
            <a:chOff x="0" y="-66675"/>
            <a:chExt cx="4816592" cy="205200"/>
          </a:xfrm>
        </p:grpSpPr>
        <p:sp>
          <p:nvSpPr>
            <p:cNvPr id="324" name="Google Shape;324;g3a9904db456_1_227"/>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325" name="Google Shape;325;g3a9904db456_1_227"/>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329" name="Google Shape;329;g3a9904db456_1_227"/>
          <p:cNvSpPr txBox="1"/>
          <p:nvPr/>
        </p:nvSpPr>
        <p:spPr>
          <a:xfrm>
            <a:off x="2310390" y="456668"/>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Key Features</a:t>
            </a:r>
            <a:endParaRPr sz="4800" b="1" dirty="0">
              <a:solidFill>
                <a:srgbClr val="00398B"/>
              </a:solidFill>
              <a:latin typeface="Times New Roman"/>
              <a:ea typeface="Times New Roman"/>
              <a:cs typeface="Times New Roman"/>
              <a:sym typeface="Times New Roman"/>
            </a:endParaRPr>
          </a:p>
        </p:txBody>
      </p:sp>
      <p:sp>
        <p:nvSpPr>
          <p:cNvPr id="330" name="Google Shape;330;g3a9904db456_1_227"/>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indent="-457196">
              <a:buFont typeface="Arial" pitchFamily="34" charset="0"/>
              <a:buChar char="•"/>
            </a:pPr>
            <a:r>
              <a:rPr lang="en-US" sz="3200" b="1" dirty="0"/>
              <a:t>Intelligent Symptom Analysis</a:t>
            </a:r>
          </a:p>
          <a:p>
            <a:pPr marL="457196" indent="-457196">
              <a:buFont typeface="Arial" pitchFamily="34" charset="0"/>
              <a:buChar char="•"/>
            </a:pPr>
            <a:r>
              <a:rPr lang="en-US" sz="3200" dirty="0"/>
              <a:t>Users enter symptoms in natural language; AI identifies possible causes and urgency levels.</a:t>
            </a:r>
          </a:p>
          <a:p>
            <a:pPr marL="457196" indent="-457196">
              <a:buFont typeface="Arial" pitchFamily="34" charset="0"/>
              <a:buChar char="•"/>
            </a:pPr>
            <a:r>
              <a:rPr lang="en-US" sz="3200" dirty="0"/>
              <a:t>Quick triage: </a:t>
            </a:r>
            <a:r>
              <a:rPr lang="en-US" sz="3200" b="1" dirty="0"/>
              <a:t>Green (mild), Yellow (moderate), Red (critical)</a:t>
            </a:r>
            <a:r>
              <a:rPr lang="en-US" sz="3200" dirty="0"/>
              <a:t>.</a:t>
            </a:r>
          </a:p>
          <a:p>
            <a:pPr marL="457196" indent="-457196">
              <a:buFont typeface="Arial" pitchFamily="34" charset="0"/>
              <a:buChar char="•"/>
            </a:pPr>
            <a:r>
              <a:rPr lang="en-US" sz="3200" b="1" dirty="0"/>
              <a:t>2. Lab Report Auto-Explanation</a:t>
            </a:r>
          </a:p>
          <a:p>
            <a:pPr marL="457196" indent="-457196">
              <a:buFont typeface="Arial" pitchFamily="34" charset="0"/>
              <a:buChar char="•"/>
            </a:pPr>
            <a:r>
              <a:rPr lang="en-US" sz="3200" dirty="0"/>
              <a:t>Upload any medical report (CBC, LFT, KFT, Lipid, Thyroid, etc.).</a:t>
            </a:r>
          </a:p>
          <a:p>
            <a:pPr marL="457196" indent="-457196">
              <a:buFont typeface="Arial" pitchFamily="34" charset="0"/>
              <a:buChar char="•"/>
            </a:pPr>
            <a:r>
              <a:rPr lang="en-US" sz="3200" dirty="0"/>
              <a:t>OCR extracts values → AI explains results in simple, easy language.</a:t>
            </a:r>
          </a:p>
          <a:p>
            <a:pPr marL="457196" indent="-457196">
              <a:buFont typeface="Arial" pitchFamily="34" charset="0"/>
              <a:buChar char="•"/>
            </a:pPr>
            <a:r>
              <a:rPr lang="en-US" sz="3200" b="1" dirty="0"/>
              <a:t>3. Prescription Understanding</a:t>
            </a:r>
          </a:p>
          <a:p>
            <a:pPr marL="457196" indent="-457196">
              <a:buFont typeface="Arial" pitchFamily="34" charset="0"/>
              <a:buChar char="•"/>
            </a:pPr>
            <a:r>
              <a:rPr lang="en-US" sz="3200" dirty="0"/>
              <a:t>AI reads doctor prescriptions and explains medicines, dosage, and precautions.</a:t>
            </a:r>
          </a:p>
          <a:p>
            <a:pPr marL="457196" indent="-457196">
              <a:buFont typeface="Arial" pitchFamily="34" charset="0"/>
              <a:buChar char="•"/>
            </a:pPr>
            <a:r>
              <a:rPr lang="en-US" sz="3200" dirty="0"/>
              <a:t>Highlights interactions and contradictions based on user history.</a:t>
            </a:r>
          </a:p>
          <a:p>
            <a:pPr marL="457196" indent="-457196">
              <a:buFont typeface="Arial" pitchFamily="34" charset="0"/>
              <a:buChar char="•"/>
            </a:pPr>
            <a:r>
              <a:rPr lang="en-US" sz="3200" b="1" dirty="0"/>
              <a:t>4. AI-Generated Personalized Health Advice</a:t>
            </a:r>
          </a:p>
          <a:p>
            <a:pPr marL="457196" indent="-457196">
              <a:buFont typeface="Arial" pitchFamily="34" charset="0"/>
              <a:buChar char="•"/>
            </a:pPr>
            <a:r>
              <a:rPr lang="en-US" sz="3200" dirty="0"/>
              <a:t>Gives custom suggestions based on age, symptoms, history, and lifestyle.</a:t>
            </a:r>
          </a:p>
          <a:p>
            <a:pPr marL="457196" indent="-457196">
              <a:buFont typeface="Arial" pitchFamily="34" charset="0"/>
              <a:buChar char="•"/>
            </a:pPr>
            <a:r>
              <a:rPr lang="en-US" sz="3200" dirty="0"/>
              <a:t>Helps users decide: </a:t>
            </a:r>
            <a:r>
              <a:rPr lang="en-US" sz="3200" b="1" dirty="0"/>
              <a:t>home care vs. test required vs. doctor visit</a:t>
            </a:r>
            <a:r>
              <a:rPr lang="en-US" sz="3200" dirty="0"/>
              <a:t>.</a:t>
            </a:r>
          </a:p>
          <a:p>
            <a:pPr marL="457196" indent="-457196">
              <a:buFont typeface="Arial" pitchFamily="34" charset="0"/>
              <a:buChar char="•"/>
            </a:pPr>
            <a:r>
              <a:rPr lang="en-US" sz="3200" b="1" dirty="0"/>
              <a:t>5. Multilingual Support</a:t>
            </a:r>
          </a:p>
          <a:p>
            <a:pPr marL="457196" indent="-457196">
              <a:buFont typeface="Arial" pitchFamily="34" charset="0"/>
              <a:buChar char="•"/>
            </a:pPr>
            <a:r>
              <a:rPr lang="en-US" sz="3200" dirty="0"/>
              <a:t>Assistant can answer in multiple Indian languages for better accessibility</a:t>
            </a:r>
            <a:r>
              <a:rPr lang="en-US" sz="3200" dirty="0"/>
              <a:t>.</a:t>
            </a:r>
            <a:endParaRPr lang="en-US" sz="32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grpSp>
        <p:nvGrpSpPr>
          <p:cNvPr id="336" name="Google Shape;336;g3a9904db456_1_239"/>
          <p:cNvGrpSpPr/>
          <p:nvPr/>
        </p:nvGrpSpPr>
        <p:grpSpPr>
          <a:xfrm>
            <a:off x="1" y="9769053"/>
            <a:ext cx="18288118" cy="522255"/>
            <a:chOff x="0" y="-66675"/>
            <a:chExt cx="4816592" cy="205200"/>
          </a:xfrm>
        </p:grpSpPr>
        <p:sp>
          <p:nvSpPr>
            <p:cNvPr id="337" name="Google Shape;337;g3a9904db456_1_239"/>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338" name="Google Shape;338;g3a9904db456_1_239"/>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342" name="Google Shape;342;g3a9904db456_1_239"/>
          <p:cNvSpPr txBox="1"/>
          <p:nvPr/>
        </p:nvSpPr>
        <p:spPr>
          <a:xfrm>
            <a:off x="2235744" y="541422"/>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Technology Stack</a:t>
            </a:r>
            <a:endParaRPr sz="4800" b="1" dirty="0">
              <a:solidFill>
                <a:srgbClr val="00398B"/>
              </a:solidFill>
              <a:latin typeface="Times New Roman"/>
              <a:ea typeface="Times New Roman"/>
              <a:cs typeface="Times New Roman"/>
              <a:sym typeface="Times New Roman"/>
            </a:endParaRPr>
          </a:p>
        </p:txBody>
      </p:sp>
      <p:sp>
        <p:nvSpPr>
          <p:cNvPr id="343" name="Google Shape;343;g3a9904db456_1_239"/>
          <p:cNvSpPr txBox="1"/>
          <p:nvPr/>
        </p:nvSpPr>
        <p:spPr>
          <a:xfrm>
            <a:off x="698300" y="1687203"/>
            <a:ext cx="17268600" cy="7671300"/>
          </a:xfrm>
          <a:prstGeom prst="rect">
            <a:avLst/>
          </a:prstGeom>
          <a:noFill/>
          <a:ln>
            <a:noFill/>
          </a:ln>
        </p:spPr>
        <p:txBody>
          <a:bodyPr spcFirstLastPara="1" wrap="square" lIns="91424" tIns="91424" rIns="91424" bIns="91424" anchor="t" anchorCtr="0">
            <a:noAutofit/>
          </a:bodyPr>
          <a:lstStyle/>
          <a:p>
            <a:pPr marL="457196" indent="-457196">
              <a:buFont typeface="Arial" pitchFamily="34" charset="0"/>
              <a:buChar char="•"/>
            </a:pPr>
            <a:r>
              <a:rPr lang="en-IN" sz="3200" b="1" dirty="0"/>
              <a:t>Frontend</a:t>
            </a:r>
          </a:p>
          <a:p>
            <a:pPr marL="457196" indent="-457196">
              <a:buFont typeface="Arial" pitchFamily="34" charset="0"/>
              <a:buChar char="•"/>
            </a:pPr>
            <a:r>
              <a:rPr lang="en-IN" sz="3200" b="1" dirty="0"/>
              <a:t>React.js</a:t>
            </a:r>
            <a:r>
              <a:rPr lang="en-IN" sz="3200" dirty="0"/>
              <a:t> / </a:t>
            </a:r>
            <a:r>
              <a:rPr lang="en-IN" sz="3200" b="1" dirty="0"/>
              <a:t>Next.js</a:t>
            </a:r>
            <a:r>
              <a:rPr lang="en-IN" sz="3200" dirty="0"/>
              <a:t> (Web)</a:t>
            </a:r>
          </a:p>
          <a:p>
            <a:pPr marL="457196" indent="-457196">
              <a:buFont typeface="Arial" pitchFamily="34" charset="0"/>
              <a:buChar char="•"/>
            </a:pPr>
            <a:r>
              <a:rPr lang="en-IN" sz="3200" b="1" dirty="0"/>
              <a:t>React Native</a:t>
            </a:r>
            <a:r>
              <a:rPr lang="en-IN" sz="3200" dirty="0"/>
              <a:t> (optional mobile app)</a:t>
            </a:r>
          </a:p>
          <a:p>
            <a:pPr marL="457196" indent="-457196">
              <a:buFont typeface="Arial" pitchFamily="34" charset="0"/>
              <a:buChar char="•"/>
            </a:pPr>
            <a:r>
              <a:rPr lang="en-IN" sz="3200" b="1" dirty="0" err="1"/>
              <a:t>TailwindCSS</a:t>
            </a:r>
            <a:r>
              <a:rPr lang="en-IN" sz="3200" dirty="0"/>
              <a:t> for UI styling</a:t>
            </a:r>
          </a:p>
          <a:p>
            <a:pPr marL="457196" indent="-457196">
              <a:buFont typeface="Arial" pitchFamily="34" charset="0"/>
              <a:buChar char="•"/>
            </a:pPr>
            <a:r>
              <a:rPr lang="en-IN" sz="3200" b="1" dirty="0"/>
              <a:t>Speech-to-Text API</a:t>
            </a:r>
            <a:r>
              <a:rPr lang="en-IN" sz="3200" dirty="0"/>
              <a:t> (Web Speech API)</a:t>
            </a:r>
          </a:p>
          <a:p>
            <a:pPr marL="457196" indent="-457196">
              <a:buFont typeface="Arial" pitchFamily="34" charset="0"/>
              <a:buChar char="•"/>
            </a:pPr>
            <a:r>
              <a:rPr lang="en-IN" sz="3200" b="1" dirty="0"/>
              <a:t>🔹 Backend</a:t>
            </a:r>
          </a:p>
          <a:p>
            <a:pPr marL="457196" indent="-457196">
              <a:buFont typeface="Arial" pitchFamily="34" charset="0"/>
              <a:buChar char="•"/>
            </a:pPr>
            <a:r>
              <a:rPr lang="en-IN" sz="3200" b="1" dirty="0"/>
              <a:t>Node.js</a:t>
            </a:r>
            <a:r>
              <a:rPr lang="en-IN" sz="3200" dirty="0"/>
              <a:t> with </a:t>
            </a:r>
            <a:r>
              <a:rPr lang="en-IN" sz="3200" b="1" dirty="0"/>
              <a:t>Express/</a:t>
            </a:r>
            <a:r>
              <a:rPr lang="en-IN" sz="3200" b="1" dirty="0" err="1"/>
              <a:t>Fastify</a:t>
            </a:r>
            <a:endParaRPr lang="en-IN" sz="3200" dirty="0"/>
          </a:p>
          <a:p>
            <a:pPr marL="457196" indent="-457196">
              <a:buFont typeface="Arial" pitchFamily="34" charset="0"/>
              <a:buChar char="•"/>
            </a:pPr>
            <a:r>
              <a:rPr lang="en-IN" sz="3200" b="1" dirty="0"/>
              <a:t>REST APIs</a:t>
            </a:r>
            <a:r>
              <a:rPr lang="en-IN" sz="3200" dirty="0"/>
              <a:t> / </a:t>
            </a:r>
            <a:r>
              <a:rPr lang="en-IN" sz="3200" b="1" dirty="0" err="1"/>
              <a:t>GraphQL</a:t>
            </a:r>
            <a:endParaRPr lang="en-IN" sz="3200" dirty="0"/>
          </a:p>
          <a:p>
            <a:pPr marL="457196" indent="-457196">
              <a:buFont typeface="Arial" pitchFamily="34" charset="0"/>
              <a:buChar char="•"/>
            </a:pPr>
            <a:r>
              <a:rPr lang="en-IN" sz="3200" b="1" dirty="0"/>
              <a:t>JWT Authentication</a:t>
            </a:r>
            <a:endParaRPr lang="en-IN" sz="3200" dirty="0"/>
          </a:p>
          <a:p>
            <a:pPr marL="457196" indent="-457196">
              <a:buFont typeface="Arial" pitchFamily="34" charset="0"/>
              <a:buChar char="•"/>
            </a:pPr>
            <a:r>
              <a:rPr lang="en-IN" sz="3200" b="1" dirty="0" err="1"/>
              <a:t>Multer</a:t>
            </a:r>
            <a:r>
              <a:rPr lang="en-IN" sz="3200" dirty="0"/>
              <a:t> for file uploads (reports)</a:t>
            </a:r>
          </a:p>
          <a:p>
            <a:pPr marL="457196" indent="-457196">
              <a:buFont typeface="Arial" pitchFamily="34" charset="0"/>
              <a:buChar char="•"/>
            </a:pPr>
            <a:r>
              <a:rPr lang="en-IN" sz="3200" b="1" dirty="0"/>
              <a:t>🔹 AI / ML Models</a:t>
            </a:r>
          </a:p>
          <a:p>
            <a:pPr marL="457196" indent="-457196">
              <a:buFont typeface="Arial" pitchFamily="34" charset="0"/>
              <a:buChar char="•"/>
            </a:pPr>
            <a:r>
              <a:rPr lang="en-IN" sz="3200" b="1" dirty="0"/>
              <a:t>LLM APIs:</a:t>
            </a:r>
            <a:r>
              <a:rPr lang="en-IN" sz="3200" dirty="0"/>
              <a:t> </a:t>
            </a:r>
            <a:r>
              <a:rPr lang="en-IN" sz="3200" dirty="0" err="1"/>
              <a:t>OpenAI</a:t>
            </a:r>
            <a:r>
              <a:rPr lang="en-IN" sz="3200" dirty="0"/>
              <a:t> / Gemini / </a:t>
            </a:r>
            <a:r>
              <a:rPr lang="en-IN" sz="3200" dirty="0" err="1"/>
              <a:t>LLaMA</a:t>
            </a:r>
            <a:r>
              <a:rPr lang="en-IN" sz="3200" dirty="0"/>
              <a:t> hosted model</a:t>
            </a:r>
          </a:p>
          <a:p>
            <a:pPr marL="457196" indent="-457196">
              <a:buFont typeface="Arial" pitchFamily="34" charset="0"/>
              <a:buChar char="•"/>
            </a:pPr>
            <a:r>
              <a:rPr lang="en-IN" sz="3200" b="1" dirty="0"/>
              <a:t>OCR:</a:t>
            </a:r>
            <a:r>
              <a:rPr lang="en-IN" sz="3200" dirty="0"/>
              <a:t> </a:t>
            </a:r>
            <a:r>
              <a:rPr lang="en-IN" sz="3200" dirty="0" err="1"/>
              <a:t>Tesseract</a:t>
            </a:r>
            <a:r>
              <a:rPr lang="en-IN" sz="3200" dirty="0"/>
              <a:t> OCR or Google Vision API</a:t>
            </a:r>
          </a:p>
          <a:p>
            <a:pPr marL="457196" indent="-457196">
              <a:buFont typeface="Arial" pitchFamily="34" charset="0"/>
              <a:buChar char="•"/>
            </a:pPr>
            <a:r>
              <a:rPr lang="en-IN" sz="3200" b="1" dirty="0"/>
              <a:t>Symptom Classification:</a:t>
            </a:r>
            <a:r>
              <a:rPr lang="en-IN" sz="3200" dirty="0"/>
              <a:t> lightweight ML model (</a:t>
            </a:r>
            <a:r>
              <a:rPr lang="en-IN" sz="3200" dirty="0" err="1"/>
              <a:t>XGBoost</a:t>
            </a:r>
            <a:r>
              <a:rPr lang="en-IN" sz="3200" dirty="0"/>
              <a:t> / </a:t>
            </a:r>
            <a:r>
              <a:rPr lang="en-IN" sz="3200" dirty="0" err="1"/>
              <a:t>Scikit</a:t>
            </a:r>
            <a:r>
              <a:rPr lang="en-IN" sz="3200" dirty="0"/>
              <a:t>-learn)</a:t>
            </a:r>
          </a:p>
          <a:p>
            <a:pPr marL="457196" indent="-457196">
              <a:buFont typeface="Arial" pitchFamily="34" charset="0"/>
              <a:buChar char="•"/>
            </a:pPr>
            <a:r>
              <a:rPr lang="en-IN" sz="3200" b="1" dirty="0"/>
              <a:t>Rule Engine:</a:t>
            </a:r>
            <a:r>
              <a:rPr lang="en-IN" sz="3200" dirty="0"/>
              <a:t> Custom red-flag safety rules (JSON + Node service)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grpSp>
        <p:nvGrpSpPr>
          <p:cNvPr id="349" name="Google Shape;349;g3a9904db456_1_251"/>
          <p:cNvGrpSpPr/>
          <p:nvPr/>
        </p:nvGrpSpPr>
        <p:grpSpPr>
          <a:xfrm>
            <a:off x="1" y="9769053"/>
            <a:ext cx="18288118" cy="522255"/>
            <a:chOff x="0" y="-66675"/>
            <a:chExt cx="4816592" cy="205200"/>
          </a:xfrm>
        </p:grpSpPr>
        <p:sp>
          <p:nvSpPr>
            <p:cNvPr id="350" name="Google Shape;350;g3a9904db456_1_251"/>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351" name="Google Shape;351;g3a9904db456_1_251"/>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355" name="Google Shape;355;g3a9904db456_1_251"/>
          <p:cNvSpPr txBox="1"/>
          <p:nvPr/>
        </p:nvSpPr>
        <p:spPr>
          <a:xfrm>
            <a:off x="2886960" y="671600"/>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Domain-Specific Deep Dive</a:t>
            </a:r>
            <a:endParaRPr sz="4800" b="1" dirty="0">
              <a:solidFill>
                <a:srgbClr val="00398B"/>
              </a:solidFill>
              <a:latin typeface="Times New Roman"/>
              <a:ea typeface="Times New Roman"/>
              <a:cs typeface="Times New Roman"/>
              <a:sym typeface="Times New Roman"/>
            </a:endParaRPr>
          </a:p>
        </p:txBody>
      </p:sp>
      <p:sp>
        <p:nvSpPr>
          <p:cNvPr id="356" name="Google Shape;356;g3a9904db456_1_251"/>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indent="-457196">
              <a:buFont typeface="Arial" pitchFamily="34" charset="0"/>
              <a:buChar char="•"/>
            </a:pPr>
            <a:r>
              <a:rPr lang="en-IN" sz="3200" b="1" dirty="0"/>
              <a:t>Frontend</a:t>
            </a:r>
            <a:r>
              <a:rPr lang="en-IN" sz="3200" dirty="0"/>
              <a:t>: React (PWA) with file upload, voice capture (Web Speech), chat UI, language toggle.</a:t>
            </a:r>
          </a:p>
          <a:p>
            <a:pPr marL="457196" indent="-457196">
              <a:buFont typeface="Arial" pitchFamily="34" charset="0"/>
              <a:buChar char="•"/>
            </a:pPr>
            <a:r>
              <a:rPr lang="en-IN" sz="3200" b="1" dirty="0"/>
              <a:t>API / Orchestrator</a:t>
            </a:r>
            <a:r>
              <a:rPr lang="en-IN" sz="3200" dirty="0"/>
              <a:t>: Node.js + Express/</a:t>
            </a:r>
            <a:r>
              <a:rPr lang="en-IN" sz="3200" dirty="0" err="1"/>
              <a:t>Fastify</a:t>
            </a:r>
            <a:r>
              <a:rPr lang="en-IN" sz="3200" dirty="0"/>
              <a:t>. Manages flow &amp; invokes services.</a:t>
            </a:r>
          </a:p>
          <a:p>
            <a:pPr marL="457196" indent="-457196">
              <a:buFont typeface="Arial" pitchFamily="34" charset="0"/>
              <a:buChar char="•"/>
            </a:pPr>
            <a:r>
              <a:rPr lang="en-IN" sz="3200" b="1" dirty="0"/>
              <a:t>OCR</a:t>
            </a:r>
            <a:r>
              <a:rPr lang="en-IN" sz="3200" dirty="0"/>
              <a:t>: </a:t>
            </a:r>
            <a:r>
              <a:rPr lang="en-IN" sz="3200" dirty="0" err="1"/>
              <a:t>Tesseract</a:t>
            </a:r>
            <a:r>
              <a:rPr lang="en-IN" sz="3200" dirty="0"/>
              <a:t> (open) or Google Vision (production).</a:t>
            </a:r>
          </a:p>
          <a:p>
            <a:pPr marL="457196" indent="-457196">
              <a:buFont typeface="Arial" pitchFamily="34" charset="0"/>
              <a:buChar char="•"/>
            </a:pPr>
            <a:r>
              <a:rPr lang="en-IN" sz="3200" b="1" dirty="0"/>
              <a:t>Parser</a:t>
            </a:r>
            <a:r>
              <a:rPr lang="en-IN" sz="3200" dirty="0"/>
              <a:t>: Maps OCR tokens → test names, values, units, reference ranges.</a:t>
            </a:r>
          </a:p>
          <a:p>
            <a:pPr marL="457196" indent="-457196">
              <a:buFont typeface="Arial" pitchFamily="34" charset="0"/>
              <a:buChar char="•"/>
            </a:pPr>
            <a:r>
              <a:rPr lang="en-IN" sz="3200" b="1" dirty="0"/>
              <a:t>Rule Engine</a:t>
            </a:r>
            <a:r>
              <a:rPr lang="en-IN" sz="3200" dirty="0"/>
              <a:t>: Deterministic JSON rules for red flags (always overrides LLM).</a:t>
            </a:r>
          </a:p>
          <a:p>
            <a:pPr marL="457196" indent="-457196">
              <a:buFont typeface="Arial" pitchFamily="34" charset="0"/>
              <a:buChar char="•"/>
            </a:pPr>
            <a:r>
              <a:rPr lang="en-IN" sz="3200" b="1" dirty="0"/>
              <a:t>Classifier</a:t>
            </a:r>
            <a:r>
              <a:rPr lang="en-IN" sz="3200" dirty="0"/>
              <a:t>: Light ML model (</a:t>
            </a:r>
            <a:r>
              <a:rPr lang="en-IN" sz="3200" dirty="0" err="1"/>
              <a:t>XGBoost</a:t>
            </a:r>
            <a:r>
              <a:rPr lang="en-IN" sz="3200" dirty="0"/>
              <a:t> / </a:t>
            </a:r>
            <a:r>
              <a:rPr lang="en-IN" sz="3200" dirty="0" err="1"/>
              <a:t>sklearn</a:t>
            </a:r>
            <a:r>
              <a:rPr lang="en-IN" sz="3200" dirty="0"/>
              <a:t>) for predicting urgency from structured features.</a:t>
            </a:r>
          </a:p>
          <a:p>
            <a:pPr marL="457196" indent="-457196">
              <a:buFont typeface="Arial" pitchFamily="34" charset="0"/>
              <a:buChar char="•"/>
            </a:pPr>
            <a:r>
              <a:rPr lang="en-IN" sz="3200" b="1" dirty="0"/>
              <a:t>LLM</a:t>
            </a:r>
            <a:r>
              <a:rPr lang="en-IN" sz="3200" dirty="0"/>
              <a:t>: Prompt-engineered model for natural explanations + next steps (</a:t>
            </a:r>
            <a:r>
              <a:rPr lang="en-IN" sz="3200" dirty="0" err="1"/>
              <a:t>OpenAI</a:t>
            </a:r>
            <a:r>
              <a:rPr lang="en-IN" sz="3200" dirty="0"/>
              <a:t>/Gemini or local Llama variant).</a:t>
            </a:r>
          </a:p>
          <a:p>
            <a:pPr marL="457196" indent="-457196">
              <a:buFont typeface="Arial" pitchFamily="34" charset="0"/>
              <a:buChar char="•"/>
            </a:pPr>
            <a:r>
              <a:rPr lang="en-IN" sz="3200" b="1" dirty="0"/>
              <a:t>Storage</a:t>
            </a:r>
            <a:r>
              <a:rPr lang="en-IN" sz="3200" dirty="0"/>
              <a:t>: </a:t>
            </a:r>
            <a:r>
              <a:rPr lang="en-IN" sz="3200" dirty="0" err="1"/>
              <a:t>PostgreSQL</a:t>
            </a:r>
            <a:r>
              <a:rPr lang="en-IN" sz="3200" dirty="0"/>
              <a:t> for structured data, S3 for files, </a:t>
            </a:r>
            <a:r>
              <a:rPr lang="en-IN" sz="3200" dirty="0" err="1"/>
              <a:t>Redis</a:t>
            </a:r>
            <a:r>
              <a:rPr lang="en-IN" sz="3200" dirty="0"/>
              <a:t> for cache.</a:t>
            </a:r>
          </a:p>
          <a:p>
            <a:pPr marL="457196" indent="-457196">
              <a:buFont typeface="Arial" pitchFamily="34" charset="0"/>
              <a:buChar char="•"/>
            </a:pPr>
            <a:r>
              <a:rPr lang="en-IN" sz="3200" b="1" dirty="0"/>
              <a:t>Admin</a:t>
            </a:r>
            <a:r>
              <a:rPr lang="en-IN" sz="3200" dirty="0"/>
              <a:t>: Dashboard to view flagged cases and accept handoffs.</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grpSp>
        <p:nvGrpSpPr>
          <p:cNvPr id="362" name="Google Shape;362;g3a9904db456_1_263"/>
          <p:cNvGrpSpPr/>
          <p:nvPr/>
        </p:nvGrpSpPr>
        <p:grpSpPr>
          <a:xfrm>
            <a:off x="1" y="9769053"/>
            <a:ext cx="18288118" cy="522255"/>
            <a:chOff x="0" y="-66675"/>
            <a:chExt cx="4816592" cy="205200"/>
          </a:xfrm>
        </p:grpSpPr>
        <p:sp>
          <p:nvSpPr>
            <p:cNvPr id="363" name="Google Shape;363;g3a9904db456_1_263"/>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364" name="Google Shape;364;g3a9904db456_1_263"/>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368" name="Google Shape;368;g3a9904db456_1_263"/>
          <p:cNvSpPr txBox="1"/>
          <p:nvPr/>
        </p:nvSpPr>
        <p:spPr>
          <a:xfrm>
            <a:off x="3075500" y="475330"/>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Prototype / UI Screens</a:t>
            </a:r>
            <a:endParaRPr sz="4800" b="1" dirty="0">
              <a:solidFill>
                <a:srgbClr val="00398B"/>
              </a:solidFill>
              <a:latin typeface="Times New Roman"/>
              <a:ea typeface="Times New Roman"/>
              <a:cs typeface="Times New Roman"/>
              <a:sym typeface="Times New Roman"/>
            </a:endParaRPr>
          </a:p>
        </p:txBody>
      </p:sp>
      <p:sp>
        <p:nvSpPr>
          <p:cNvPr id="369" name="Google Shape;369;g3a9904db456_1_263"/>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algn="just">
              <a:buSzPts val="3200"/>
            </a:pPr>
            <a:endParaRPr sz="3200" dirty="0">
              <a:solidFill>
                <a:schemeClr val="dk1"/>
              </a:solidFill>
              <a:latin typeface="Times New Roman"/>
              <a:ea typeface="Times New Roman"/>
              <a:cs typeface="Times New Roman"/>
              <a:sym typeface="Times New Roman"/>
            </a:endParaRPr>
          </a:p>
        </p:txBody>
      </p:sp>
      <p:pic>
        <p:nvPicPr>
          <p:cNvPr id="11" name="Picture 2" descr="C:\Users\hp\OneDrive\Desktop\anshpl\doctor_ai_app\doctor-ai-anshul\mobiledoctorai.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198" y="1618916"/>
            <a:ext cx="14554437" cy="73812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7507" y="989046"/>
            <a:ext cx="15555627" cy="7777814"/>
          </a:xfrm>
          <a:prstGeom prst="rect">
            <a:avLst/>
          </a:prstGeom>
        </p:spPr>
      </p:pic>
    </p:spTree>
    <p:extLst>
      <p:ext uri="{BB962C8B-B14F-4D97-AF65-F5344CB8AC3E}">
        <p14:creationId xmlns:p14="http://schemas.microsoft.com/office/powerpoint/2010/main" val="25060818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grpSp>
        <p:nvGrpSpPr>
          <p:cNvPr id="388" name="Google Shape;388;g3a9904db456_1_287"/>
          <p:cNvGrpSpPr/>
          <p:nvPr/>
        </p:nvGrpSpPr>
        <p:grpSpPr>
          <a:xfrm>
            <a:off x="1" y="9769053"/>
            <a:ext cx="18288118" cy="522255"/>
            <a:chOff x="0" y="-66675"/>
            <a:chExt cx="4816592" cy="205200"/>
          </a:xfrm>
        </p:grpSpPr>
        <p:sp>
          <p:nvSpPr>
            <p:cNvPr id="389" name="Google Shape;389;g3a9904db456_1_287"/>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390" name="Google Shape;390;g3a9904db456_1_287"/>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394" name="Google Shape;394;g3a9904db456_1_287"/>
          <p:cNvSpPr txBox="1"/>
          <p:nvPr/>
        </p:nvSpPr>
        <p:spPr>
          <a:xfrm>
            <a:off x="3075500" y="643732"/>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Innovation &amp; Uniqueness</a:t>
            </a:r>
            <a:endParaRPr sz="4800" b="1" dirty="0">
              <a:solidFill>
                <a:srgbClr val="00398B"/>
              </a:solidFill>
              <a:latin typeface="Times New Roman"/>
              <a:ea typeface="Times New Roman"/>
              <a:cs typeface="Times New Roman"/>
              <a:sym typeface="Times New Roman"/>
            </a:endParaRPr>
          </a:p>
        </p:txBody>
      </p:sp>
      <p:sp>
        <p:nvSpPr>
          <p:cNvPr id="395" name="Google Shape;395;g3a9904db456_1_287"/>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indent="-457196">
              <a:buFont typeface="Arial" pitchFamily="34" charset="0"/>
              <a:buChar char="•"/>
            </a:pPr>
            <a:r>
              <a:rPr lang="en-IN" sz="3200" b="1" dirty="0"/>
              <a:t>Multi-Domain Medical Intelligence</a:t>
            </a:r>
          </a:p>
          <a:p>
            <a:pPr marL="457196" indent="-457196">
              <a:buFont typeface="Arial" pitchFamily="34" charset="0"/>
              <a:buChar char="•"/>
            </a:pPr>
            <a:r>
              <a:rPr lang="en-IN" sz="3200" dirty="0"/>
              <a:t>Doctor AI uniquely blends </a:t>
            </a:r>
            <a:r>
              <a:rPr lang="en-IN" sz="3200" b="1" dirty="0"/>
              <a:t>symptom investigation</a:t>
            </a:r>
            <a:r>
              <a:rPr lang="en-IN" sz="3200" dirty="0"/>
              <a:t>, </a:t>
            </a:r>
            <a:r>
              <a:rPr lang="en-IN" sz="3200" b="1" dirty="0"/>
              <a:t>medical report understanding</a:t>
            </a:r>
            <a:r>
              <a:rPr lang="en-IN" sz="3200" dirty="0"/>
              <a:t>, </a:t>
            </a:r>
            <a:r>
              <a:rPr lang="en-IN" sz="3200" b="1" dirty="0"/>
              <a:t>medicine guidance</a:t>
            </a:r>
            <a:r>
              <a:rPr lang="en-IN" sz="3200" dirty="0"/>
              <a:t>, and </a:t>
            </a:r>
            <a:r>
              <a:rPr lang="en-IN" sz="3200" b="1" dirty="0"/>
              <a:t>risk prediction</a:t>
            </a:r>
            <a:r>
              <a:rPr lang="en-IN" sz="3200" dirty="0"/>
              <a:t> into one unified LLM pipeline—unlike typical symptom checkers that give only basic suggestions.</a:t>
            </a:r>
          </a:p>
          <a:p>
            <a:pPr marL="457196" indent="-457196">
              <a:buFont typeface="Arial" pitchFamily="34" charset="0"/>
              <a:buChar char="•"/>
            </a:pPr>
            <a:r>
              <a:rPr lang="en-IN" sz="3200" b="1" dirty="0"/>
              <a:t>2. Hybrid LLM + Medical-Knowledge Graph</a:t>
            </a:r>
          </a:p>
          <a:p>
            <a:pPr marL="457196" indent="-457196">
              <a:buFont typeface="Arial" pitchFamily="34" charset="0"/>
              <a:buChar char="•"/>
            </a:pPr>
            <a:r>
              <a:rPr lang="en-IN" sz="3200" dirty="0"/>
              <a:t>Uses a </a:t>
            </a:r>
            <a:r>
              <a:rPr lang="en-IN" sz="3200" b="1" dirty="0"/>
              <a:t>dual-engine approach</a:t>
            </a:r>
            <a:r>
              <a:rPr lang="en-IN" sz="3200" dirty="0"/>
              <a:t>:</a:t>
            </a:r>
          </a:p>
          <a:p>
            <a:pPr marL="457196" indent="-457196">
              <a:buFont typeface="Arial" pitchFamily="34" charset="0"/>
              <a:buChar char="•"/>
            </a:pPr>
            <a:r>
              <a:rPr lang="en-IN" sz="3200" dirty="0"/>
              <a:t>LLM for natural conversation + reasoning</a:t>
            </a:r>
          </a:p>
          <a:p>
            <a:pPr marL="457196" indent="-457196">
              <a:buFont typeface="Arial" pitchFamily="34" charset="0"/>
              <a:buChar char="•"/>
            </a:pPr>
            <a:r>
              <a:rPr lang="en-IN" sz="3200" dirty="0"/>
              <a:t>Medical ontology (ICD-10, drug database) for </a:t>
            </a:r>
            <a:r>
              <a:rPr lang="en-IN" sz="3200" b="1" dirty="0"/>
              <a:t>accurate disease mapping</a:t>
            </a:r>
            <a:r>
              <a:rPr lang="en-IN" sz="3200" dirty="0"/>
              <a:t/>
            </a:r>
            <a:br>
              <a:rPr lang="en-IN" sz="3200" dirty="0"/>
            </a:br>
            <a:r>
              <a:rPr lang="en-IN" sz="3200" dirty="0"/>
              <a:t>This drastically reduces hallucinations.</a:t>
            </a:r>
          </a:p>
          <a:p>
            <a:pPr marL="457196" indent="-457196">
              <a:buFont typeface="Arial" pitchFamily="34" charset="0"/>
              <a:buChar char="•"/>
            </a:pPr>
            <a:r>
              <a:rPr lang="en-IN" sz="3200" b="1" dirty="0"/>
              <a:t>3. Context-Aware Dynamic Triage</a:t>
            </a:r>
          </a:p>
          <a:p>
            <a:pPr marL="457196" indent="-457196">
              <a:buFont typeface="Arial" pitchFamily="34" charset="0"/>
              <a:buChar char="•"/>
            </a:pPr>
            <a:r>
              <a:rPr lang="en-IN" sz="3200" dirty="0"/>
              <a:t>Provides </a:t>
            </a:r>
            <a:r>
              <a:rPr lang="en-IN" sz="3200" b="1" dirty="0"/>
              <a:t>emergency severity scoring </a:t>
            </a:r>
            <a:r>
              <a:rPr lang="en-IN" sz="3200" dirty="0"/>
              <a:t>based </a:t>
            </a:r>
            <a:r>
              <a:rPr lang="en-IN" sz="3200" dirty="0"/>
              <a:t>on symptoms, history, vitals, and report data—making it more actionable than simple </a:t>
            </a:r>
            <a:r>
              <a:rPr lang="en-IN" sz="3200" dirty="0" err="1"/>
              <a:t>chatbot</a:t>
            </a:r>
            <a:r>
              <a:rPr lang="en-IN" sz="3200" dirty="0"/>
              <a:t> responses.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grpSp>
        <p:nvGrpSpPr>
          <p:cNvPr id="401" name="Google Shape;401;g3a9904db456_1_299"/>
          <p:cNvGrpSpPr/>
          <p:nvPr/>
        </p:nvGrpSpPr>
        <p:grpSpPr>
          <a:xfrm>
            <a:off x="1" y="9769053"/>
            <a:ext cx="18288118" cy="522255"/>
            <a:chOff x="0" y="-66675"/>
            <a:chExt cx="4816592" cy="205200"/>
          </a:xfrm>
        </p:grpSpPr>
        <p:sp>
          <p:nvSpPr>
            <p:cNvPr id="402" name="Google Shape;402;g3a9904db456_1_299"/>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403" name="Google Shape;403;g3a9904db456_1_299"/>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407" name="Google Shape;407;g3a9904db456_1_299"/>
          <p:cNvSpPr txBox="1"/>
          <p:nvPr/>
        </p:nvSpPr>
        <p:spPr>
          <a:xfrm>
            <a:off x="3075500" y="531313"/>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Impact Analysis</a:t>
            </a:r>
            <a:endParaRPr sz="4800" b="1" dirty="0">
              <a:solidFill>
                <a:srgbClr val="00398B"/>
              </a:solidFill>
              <a:latin typeface="Times New Roman"/>
              <a:ea typeface="Times New Roman"/>
              <a:cs typeface="Times New Roman"/>
              <a:sym typeface="Times New Roman"/>
            </a:endParaRPr>
          </a:p>
        </p:txBody>
      </p:sp>
      <p:sp>
        <p:nvSpPr>
          <p:cNvPr id="408" name="Google Shape;408;g3a9904db456_1_299"/>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pPr marL="457196" indent="-457196">
              <a:buFont typeface="Arial" pitchFamily="34" charset="0"/>
              <a:buChar char="•"/>
            </a:pPr>
            <a:r>
              <a:rPr lang="en-US" sz="3200" b="1" dirty="0"/>
              <a:t>1. Improved Healthcare Accessibility</a:t>
            </a:r>
          </a:p>
          <a:p>
            <a:pPr marL="457196" indent="-457196">
              <a:buFont typeface="Arial" pitchFamily="34" charset="0"/>
              <a:buChar char="•"/>
            </a:pPr>
            <a:r>
              <a:rPr lang="en-US" sz="3200" dirty="0"/>
              <a:t>Doctor AI offers instant, 24×7 medical assistance, especially for </a:t>
            </a:r>
            <a:r>
              <a:rPr lang="en-US" sz="3200" b="1" dirty="0"/>
              <a:t>rural users, students, senior citizens</a:t>
            </a:r>
            <a:r>
              <a:rPr lang="en-US" sz="3200" dirty="0"/>
              <a:t>, and those who lack quick access to doctors. This significantly reduces the dependency on physical consultations for minor issues.</a:t>
            </a:r>
          </a:p>
          <a:p>
            <a:pPr marL="457196" indent="-457196">
              <a:buFont typeface="Arial" pitchFamily="34" charset="0"/>
              <a:buChar char="•"/>
            </a:pPr>
            <a:r>
              <a:rPr lang="en-US" sz="3200" b="1" dirty="0"/>
              <a:t>2. Reduction in Self-Medication Risks</a:t>
            </a:r>
          </a:p>
          <a:p>
            <a:pPr marL="457196" indent="-457196">
              <a:buFont typeface="Arial" pitchFamily="34" charset="0"/>
              <a:buChar char="•"/>
            </a:pPr>
            <a:r>
              <a:rPr lang="en-US" sz="3200" dirty="0"/>
              <a:t>Instead of blind </a:t>
            </a:r>
            <a:r>
              <a:rPr lang="en-US" sz="3200" dirty="0" err="1"/>
              <a:t>Googling</a:t>
            </a:r>
            <a:r>
              <a:rPr lang="en-US" sz="3200" dirty="0"/>
              <a:t> or guessing medicines, the system gives </a:t>
            </a:r>
            <a:r>
              <a:rPr lang="en-US" sz="3200" b="1" dirty="0"/>
              <a:t>safe, evidence-based guidance</a:t>
            </a:r>
            <a:r>
              <a:rPr lang="en-US" sz="3200" dirty="0"/>
              <a:t>, lowering chances of wrong drug usage or harmful combinations.</a:t>
            </a:r>
          </a:p>
          <a:p>
            <a:pPr marL="457196" indent="-457196">
              <a:buFont typeface="Arial" pitchFamily="34" charset="0"/>
              <a:buChar char="•"/>
            </a:pPr>
            <a:r>
              <a:rPr lang="en-US" sz="3200" b="1" dirty="0"/>
              <a:t>3. Faster Pre-diagnosis &amp; Early Detection</a:t>
            </a:r>
          </a:p>
          <a:p>
            <a:pPr marL="457196" indent="-457196">
              <a:buFont typeface="Arial" pitchFamily="34" charset="0"/>
              <a:buChar char="•"/>
            </a:pPr>
            <a:r>
              <a:rPr lang="en-US" sz="3200" dirty="0"/>
              <a:t>The AI can identify red-flag symptoms, abnormal report values, and high-risk patterns, leading to </a:t>
            </a:r>
            <a:r>
              <a:rPr lang="en-US" sz="3200" b="1" dirty="0"/>
              <a:t>earlier treatment opportunities</a:t>
            </a:r>
            <a:r>
              <a:rPr lang="en-US" sz="3200" dirty="0"/>
              <a:t> and preventing complications.</a:t>
            </a:r>
          </a:p>
          <a:p>
            <a:pPr marL="457196" indent="-457196">
              <a:buFont typeface="Arial" pitchFamily="34" charset="0"/>
              <a:buChar char="•"/>
            </a:pPr>
            <a:r>
              <a:rPr lang="en-US" sz="3200" b="1" dirty="0"/>
              <a:t>4. Lower Clinical Workload</a:t>
            </a:r>
          </a:p>
          <a:p>
            <a:pPr marL="457196" indent="-457196">
              <a:buFont typeface="Arial" pitchFamily="34" charset="0"/>
              <a:buChar char="•"/>
            </a:pPr>
            <a:r>
              <a:rPr lang="en-US" sz="3200" dirty="0"/>
              <a:t>Basic queries, report explanations, lifestyle suggestions, and triage scoring are automated.</a:t>
            </a:r>
            <a:br>
              <a:rPr lang="en-US" sz="3200" dirty="0"/>
            </a:br>
            <a:r>
              <a:rPr lang="en-US" sz="3200" dirty="0"/>
              <a:t>Doctors can focus on </a:t>
            </a:r>
            <a:r>
              <a:rPr lang="en-US" sz="3200" b="1" dirty="0"/>
              <a:t>critical cases</a:t>
            </a:r>
            <a:r>
              <a:rPr lang="en-US" sz="3200" dirty="0"/>
              <a:t>, reducing consultation time by </a:t>
            </a:r>
            <a:r>
              <a:rPr lang="en-US" sz="3200" b="1" dirty="0"/>
              <a:t>30–40</a:t>
            </a:r>
            <a:r>
              <a:rPr lang="en-US" sz="3200" b="1" dirty="0"/>
              <a:t>%</a:t>
            </a:r>
            <a:r>
              <a:rPr lang="en-US" sz="3200" dirty="0"/>
              <a:t>.</a:t>
            </a:r>
            <a:endParaRPr lang="en-US" sz="32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grpSp>
        <p:nvGrpSpPr>
          <p:cNvPr id="427" name="Google Shape;427;g3a9904db456_1_323"/>
          <p:cNvGrpSpPr/>
          <p:nvPr/>
        </p:nvGrpSpPr>
        <p:grpSpPr>
          <a:xfrm>
            <a:off x="1" y="9769053"/>
            <a:ext cx="18288118" cy="522255"/>
            <a:chOff x="0" y="-66675"/>
            <a:chExt cx="4816592" cy="205200"/>
          </a:xfrm>
        </p:grpSpPr>
        <p:sp>
          <p:nvSpPr>
            <p:cNvPr id="428" name="Google Shape;428;g3a9904db456_1_323"/>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429" name="Google Shape;429;g3a9904db456_1_323"/>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433" name="Google Shape;433;g3a9904db456_1_323"/>
          <p:cNvSpPr txBox="1"/>
          <p:nvPr/>
        </p:nvSpPr>
        <p:spPr>
          <a:xfrm>
            <a:off x="3075500" y="671600"/>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Future Enhancements &amp; Challenges Faced</a:t>
            </a:r>
            <a:endParaRPr sz="4800" b="1" dirty="0">
              <a:solidFill>
                <a:srgbClr val="00398B"/>
              </a:solidFill>
              <a:latin typeface="Times New Roman"/>
              <a:ea typeface="Times New Roman"/>
              <a:cs typeface="Times New Roman"/>
              <a:sym typeface="Times New Roman"/>
            </a:endParaRPr>
          </a:p>
        </p:txBody>
      </p:sp>
      <p:sp>
        <p:nvSpPr>
          <p:cNvPr id="434" name="Google Shape;434;g3a9904db456_1_323"/>
          <p:cNvSpPr txBox="1"/>
          <p:nvPr/>
        </p:nvSpPr>
        <p:spPr>
          <a:xfrm>
            <a:off x="698300" y="2097750"/>
            <a:ext cx="17268600" cy="7671300"/>
          </a:xfrm>
          <a:prstGeom prst="rect">
            <a:avLst/>
          </a:prstGeom>
          <a:noFill/>
          <a:ln>
            <a:noFill/>
          </a:ln>
        </p:spPr>
        <p:txBody>
          <a:bodyPr spcFirstLastPara="1" wrap="square" lIns="91424" tIns="91424" rIns="91424" bIns="91424" anchor="t" anchorCtr="0">
            <a:noAutofit/>
          </a:bodyPr>
          <a:lstStyle/>
          <a:p>
            <a:r>
              <a:rPr lang="en-IN" sz="3200" b="1" dirty="0"/>
              <a:t>1. Wearable Device Integration</a:t>
            </a:r>
          </a:p>
          <a:p>
            <a:r>
              <a:rPr lang="en-IN" sz="3200" dirty="0"/>
              <a:t>Sync real-time health data (</a:t>
            </a:r>
            <a:r>
              <a:rPr lang="en-IN" sz="3200" dirty="0" err="1"/>
              <a:t>SpO</a:t>
            </a:r>
            <a:r>
              <a:rPr lang="en-IN" sz="3200" dirty="0"/>
              <a:t>₂, Heart Rate, BP, Sleep Patterns) for </a:t>
            </a:r>
            <a:r>
              <a:rPr lang="en-IN" sz="3200" b="1" dirty="0"/>
              <a:t>continuous monitoring &amp; instant alerts</a:t>
            </a:r>
            <a:r>
              <a:rPr lang="en-IN" sz="3200" dirty="0"/>
              <a:t>.</a:t>
            </a:r>
          </a:p>
          <a:p>
            <a:r>
              <a:rPr lang="en-IN" sz="3200" b="1" dirty="0"/>
              <a:t>2. Advanced Report Scanner (OCR + Vision AI)</a:t>
            </a:r>
          </a:p>
          <a:p>
            <a:r>
              <a:rPr lang="en-IN" sz="3200" dirty="0"/>
              <a:t>Support X-rays, ECGs, MRIs using open-source medical imaging models for </a:t>
            </a:r>
            <a:r>
              <a:rPr lang="en-IN" sz="3200" b="1" dirty="0"/>
              <a:t>automated anomaly detection</a:t>
            </a:r>
            <a:r>
              <a:rPr lang="en-IN" sz="3200" dirty="0"/>
              <a:t>.</a:t>
            </a:r>
          </a:p>
          <a:p>
            <a:r>
              <a:rPr lang="en-IN" sz="3200" b="1" dirty="0"/>
              <a:t>3. Personalized Health Records (PHR) Vault</a:t>
            </a:r>
          </a:p>
          <a:p>
            <a:r>
              <a:rPr lang="en-IN" sz="3200" dirty="0"/>
              <a:t>User-specific encrypted health profiles, medication history, allergies, and prescriptions.</a:t>
            </a:r>
          </a:p>
          <a:p>
            <a:r>
              <a:rPr lang="en-IN" sz="3200" b="1" dirty="0"/>
              <a:t>4. Multi-Lingual Voice Assistant</a:t>
            </a:r>
          </a:p>
          <a:p>
            <a:r>
              <a:rPr lang="en-IN" sz="3200" dirty="0"/>
              <a:t>Support for </a:t>
            </a:r>
            <a:r>
              <a:rPr lang="en-IN" sz="3200" b="1" dirty="0"/>
              <a:t>10+ Indian languages</a:t>
            </a:r>
            <a:r>
              <a:rPr lang="en-IN" sz="3200" dirty="0"/>
              <a:t>, allowing rural users to interact fully via voice.</a:t>
            </a:r>
          </a:p>
          <a:p>
            <a:r>
              <a:rPr lang="en-IN" sz="3200" b="1" dirty="0"/>
              <a:t>5. Doctor Collaboration Portal</a:t>
            </a:r>
          </a:p>
          <a:p>
            <a:r>
              <a:rPr lang="en-IN" sz="3200" dirty="0"/>
              <a:t>Doctors can verify AI outputs and provide corrections—creating a </a:t>
            </a:r>
            <a:r>
              <a:rPr lang="en-IN" sz="3200" b="1" dirty="0"/>
              <a:t>human-in-the-loop</a:t>
            </a:r>
            <a:r>
              <a:rPr lang="en-IN" sz="3200" dirty="0"/>
              <a:t> learning cycle.</a:t>
            </a:r>
          </a:p>
          <a:p>
            <a:r>
              <a:rPr lang="en-IN" sz="3200" b="1" dirty="0"/>
              <a:t>6. Integration with ABDM / </a:t>
            </a:r>
            <a:r>
              <a:rPr lang="en-IN" sz="3200" b="1" dirty="0" err="1"/>
              <a:t>Ayushman</a:t>
            </a:r>
            <a:r>
              <a:rPr lang="en-IN" sz="3200" b="1" dirty="0"/>
              <a:t> Bharat APIs</a:t>
            </a:r>
          </a:p>
          <a:p>
            <a:r>
              <a:rPr lang="en-IN" sz="3200" dirty="0"/>
              <a:t>To fetch digital health records and offer connected public healthcare services.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grpSp>
        <p:nvGrpSpPr>
          <p:cNvPr id="440" name="Google Shape;440;g3a9904db456_1_335"/>
          <p:cNvGrpSpPr/>
          <p:nvPr/>
        </p:nvGrpSpPr>
        <p:grpSpPr>
          <a:xfrm>
            <a:off x="1" y="9769053"/>
            <a:ext cx="18288118" cy="522255"/>
            <a:chOff x="0" y="-66675"/>
            <a:chExt cx="4816592" cy="205200"/>
          </a:xfrm>
        </p:grpSpPr>
        <p:sp>
          <p:nvSpPr>
            <p:cNvPr id="441" name="Google Shape;441;g3a9904db456_1_335"/>
            <p:cNvSpPr/>
            <p:nvPr/>
          </p:nvSpPr>
          <p:spPr>
            <a:xfrm>
              <a:off x="0" y="0"/>
              <a:ext cx="4816592" cy="138487"/>
            </a:xfrm>
            <a:custGeom>
              <a:avLst/>
              <a:gdLst/>
              <a:ahLst/>
              <a:cxnLst/>
              <a:rect l="l" t="t" r="r" b="b"/>
              <a:pathLst>
                <a:path w="4816592" h="138487" extrusionOk="0">
                  <a:moveTo>
                    <a:pt x="0" y="0"/>
                  </a:moveTo>
                  <a:lnTo>
                    <a:pt x="4816592" y="0"/>
                  </a:lnTo>
                  <a:lnTo>
                    <a:pt x="4816592" y="138487"/>
                  </a:lnTo>
                  <a:lnTo>
                    <a:pt x="0" y="138487"/>
                  </a:lnTo>
                  <a:close/>
                </a:path>
              </a:pathLst>
            </a:custGeom>
            <a:solidFill>
              <a:srgbClr val="00398B"/>
            </a:solidFill>
            <a:ln>
              <a:noFill/>
            </a:ln>
          </p:spPr>
        </p:sp>
        <p:sp>
          <p:nvSpPr>
            <p:cNvPr id="442" name="Google Shape;442;g3a9904db456_1_335"/>
            <p:cNvSpPr txBox="1"/>
            <p:nvPr/>
          </p:nvSpPr>
          <p:spPr>
            <a:xfrm>
              <a:off x="0" y="-66675"/>
              <a:ext cx="4816500" cy="205200"/>
            </a:xfrm>
            <a:prstGeom prst="rect">
              <a:avLst/>
            </a:prstGeom>
            <a:solidFill>
              <a:srgbClr val="00398B"/>
            </a:solidFill>
            <a:ln>
              <a:noFill/>
            </a:ln>
          </p:spPr>
          <p:txBody>
            <a:bodyPr spcFirstLastPara="1" wrap="square" lIns="50800" tIns="50800" rIns="50800" bIns="50800" anchor="ctr" anchorCtr="0">
              <a:noAutofit/>
            </a:bodyPr>
            <a:lstStyle/>
            <a:p>
              <a:pPr algn="ctr">
                <a:lnSpc>
                  <a:spcPct val="194388"/>
                </a:lnSpc>
                <a:buSzPts val="1800"/>
              </a:pPr>
              <a:endParaRPr sz="1800">
                <a:solidFill>
                  <a:schemeClr val="dk1"/>
                </a:solidFill>
                <a:latin typeface="Calibri"/>
                <a:ea typeface="Calibri"/>
                <a:cs typeface="Calibri"/>
                <a:sym typeface="Calibri"/>
              </a:endParaRPr>
            </a:p>
          </p:txBody>
        </p:sp>
      </p:grpSp>
      <p:sp>
        <p:nvSpPr>
          <p:cNvPr id="446" name="Google Shape;446;g3a9904db456_1_335"/>
          <p:cNvSpPr txBox="1"/>
          <p:nvPr/>
        </p:nvSpPr>
        <p:spPr>
          <a:xfrm>
            <a:off x="3075500" y="466123"/>
            <a:ext cx="12514200" cy="989700"/>
          </a:xfrm>
          <a:prstGeom prst="rect">
            <a:avLst/>
          </a:prstGeom>
          <a:noFill/>
          <a:ln>
            <a:noFill/>
          </a:ln>
        </p:spPr>
        <p:txBody>
          <a:bodyPr spcFirstLastPara="1" wrap="square" lIns="91424" tIns="91424" rIns="91424" bIns="91424" anchor="t" anchorCtr="0">
            <a:noAutofit/>
          </a:bodyPr>
          <a:lstStyle/>
          <a:p>
            <a:pPr algn="ctr">
              <a:buSzPts val="4800"/>
            </a:pPr>
            <a:r>
              <a:rPr lang="en-US" sz="4800" b="1" dirty="0">
                <a:solidFill>
                  <a:srgbClr val="00398B"/>
                </a:solidFill>
                <a:latin typeface="Times New Roman"/>
                <a:ea typeface="Times New Roman"/>
                <a:cs typeface="Times New Roman"/>
                <a:sym typeface="Times New Roman"/>
              </a:rPr>
              <a:t>Conclusion &amp; Thank You</a:t>
            </a:r>
            <a:endParaRPr sz="4800" b="1" dirty="0">
              <a:solidFill>
                <a:srgbClr val="00398B"/>
              </a:solidFill>
              <a:latin typeface="Times New Roman"/>
              <a:ea typeface="Times New Roman"/>
              <a:cs typeface="Times New Roman"/>
              <a:sym typeface="Times New Roman"/>
            </a:endParaRPr>
          </a:p>
        </p:txBody>
      </p:sp>
      <p:sp>
        <p:nvSpPr>
          <p:cNvPr id="447" name="Google Shape;447;g3a9904db456_1_335"/>
          <p:cNvSpPr txBox="1"/>
          <p:nvPr/>
        </p:nvSpPr>
        <p:spPr>
          <a:xfrm>
            <a:off x="780220" y="1906952"/>
            <a:ext cx="17268600" cy="7671300"/>
          </a:xfrm>
          <a:prstGeom prst="rect">
            <a:avLst/>
          </a:prstGeom>
          <a:noFill/>
          <a:ln>
            <a:noFill/>
          </a:ln>
        </p:spPr>
        <p:txBody>
          <a:bodyPr spcFirstLastPara="1" wrap="square" lIns="91424" tIns="91424" rIns="91424" bIns="91424" anchor="t" anchorCtr="0">
            <a:noAutofit/>
          </a:bodyPr>
          <a:lstStyle/>
          <a:p>
            <a:pPr marL="457196" algn="just"/>
            <a:r>
              <a:rPr lang="en-US" sz="3200" u="sng" dirty="0">
                <a:solidFill>
                  <a:schemeClr val="dk1"/>
                </a:solidFill>
                <a:latin typeface="Times New Roman"/>
                <a:ea typeface="Times New Roman"/>
                <a:cs typeface="Times New Roman"/>
                <a:sym typeface="Times New Roman"/>
              </a:rPr>
              <a:t>Deployed Link:</a:t>
            </a:r>
          </a:p>
          <a:p>
            <a:pPr marL="457196" algn="just"/>
            <a:r>
              <a:rPr lang="en-IN" sz="3200" u="sng" dirty="0">
                <a:latin typeface="Times New Roman" pitchFamily="18" charset="0"/>
                <a:cs typeface="Times New Roman" pitchFamily="18" charset="0"/>
                <a:hlinkClick r:id="rId3"/>
              </a:rPr>
              <a:t>https://doctoraiviaaanshul.netlify.app/</a:t>
            </a:r>
            <a:endParaRPr lang="en-IN" sz="3200" u="sng" dirty="0">
              <a:latin typeface="Times New Roman" pitchFamily="18" charset="0"/>
              <a:cs typeface="Times New Roman" pitchFamily="18" charset="0"/>
            </a:endParaRPr>
          </a:p>
          <a:p>
            <a:pPr marL="457196" algn="just"/>
            <a:endParaRPr lang="en-US" sz="3200" dirty="0">
              <a:solidFill>
                <a:schemeClr val="dk1"/>
              </a:solidFill>
              <a:latin typeface="Times New Roman"/>
              <a:ea typeface="Times New Roman"/>
              <a:cs typeface="Times New Roman"/>
              <a:sym typeface="Times New Roman"/>
            </a:endParaRPr>
          </a:p>
          <a:p>
            <a:pPr marL="457196" algn="just"/>
            <a:r>
              <a:rPr lang="en-US" sz="3200" dirty="0">
                <a:solidFill>
                  <a:schemeClr val="dk1"/>
                </a:solidFill>
                <a:latin typeface="Times New Roman"/>
                <a:ea typeface="Times New Roman"/>
                <a:cs typeface="Times New Roman"/>
                <a:sym typeface="Times New Roman"/>
              </a:rPr>
              <a:t>LinkedIn: </a:t>
            </a:r>
            <a:r>
              <a:rPr lang="en-US" sz="3200" dirty="0">
                <a:solidFill>
                  <a:schemeClr val="dk1"/>
                </a:solidFill>
                <a:latin typeface="Times New Roman"/>
                <a:ea typeface="Times New Roman"/>
                <a:cs typeface="Times New Roman"/>
                <a:sym typeface="Times New Roman"/>
                <a:hlinkClick r:id="rId4"/>
              </a:rPr>
              <a:t>https://www.linkedin.com/in/anshul-bhilare-251710290/</a:t>
            </a:r>
            <a:endParaRPr lang="en-US" sz="3200" dirty="0">
              <a:solidFill>
                <a:schemeClr val="dk1"/>
              </a:solidFill>
              <a:latin typeface="Times New Roman"/>
              <a:ea typeface="Times New Roman"/>
              <a:cs typeface="Times New Roman"/>
              <a:sym typeface="Times New Roman"/>
            </a:endParaRPr>
          </a:p>
          <a:p>
            <a:pPr marL="457196" algn="just"/>
            <a:endParaRPr lang="en-US" sz="3200" dirty="0">
              <a:solidFill>
                <a:schemeClr val="dk1"/>
              </a:solidFill>
              <a:latin typeface="Times New Roman"/>
              <a:ea typeface="Times New Roman"/>
              <a:cs typeface="Times New Roman"/>
              <a:sym typeface="Times New Roman"/>
            </a:endParaRPr>
          </a:p>
          <a:p>
            <a:pPr marL="457196" algn="just"/>
            <a:r>
              <a:rPr lang="en-US" sz="3200" dirty="0">
                <a:solidFill>
                  <a:schemeClr val="dk1"/>
                </a:solidFill>
                <a:latin typeface="Times New Roman"/>
                <a:ea typeface="Times New Roman"/>
                <a:cs typeface="Times New Roman"/>
                <a:sym typeface="Times New Roman"/>
              </a:rPr>
              <a:t>Portfolio: </a:t>
            </a:r>
            <a:r>
              <a:rPr lang="en-US" sz="3200" dirty="0">
                <a:solidFill>
                  <a:schemeClr val="dk1"/>
                </a:solidFill>
                <a:latin typeface="Times New Roman"/>
                <a:ea typeface="Times New Roman"/>
                <a:cs typeface="Times New Roman"/>
                <a:sym typeface="Times New Roman"/>
                <a:hlinkClick r:id="rId5"/>
              </a:rPr>
              <a:t>https://anshulbhilareportfolio.netlify.app/</a:t>
            </a:r>
            <a:endParaRPr lang="en-US" sz="3200" dirty="0">
              <a:solidFill>
                <a:schemeClr val="dk1"/>
              </a:solidFill>
              <a:latin typeface="Times New Roman"/>
              <a:ea typeface="Times New Roman"/>
              <a:cs typeface="Times New Roman"/>
              <a:sym typeface="Times New Roman"/>
            </a:endParaRPr>
          </a:p>
          <a:p>
            <a:pPr marL="457196" algn="just"/>
            <a:endParaRPr lang="en-US" sz="3200" dirty="0">
              <a:solidFill>
                <a:schemeClr val="dk1"/>
              </a:solidFill>
              <a:latin typeface="Times New Roman"/>
              <a:ea typeface="Times New Roman"/>
              <a:cs typeface="Times New Roman"/>
              <a:sym typeface="Times New Roman"/>
            </a:endParaRPr>
          </a:p>
          <a:p>
            <a:pPr marL="457196" algn="just"/>
            <a:r>
              <a:rPr lang="en-US" sz="3200" dirty="0" err="1">
                <a:solidFill>
                  <a:schemeClr val="dk1"/>
                </a:solidFill>
                <a:latin typeface="Times New Roman"/>
                <a:ea typeface="Times New Roman"/>
                <a:cs typeface="Times New Roman"/>
                <a:sym typeface="Times New Roman"/>
              </a:rPr>
              <a:t>GitHub</a:t>
            </a:r>
            <a:r>
              <a:rPr lang="en-US" sz="3200" dirty="0">
                <a:solidFill>
                  <a:schemeClr val="dk1"/>
                </a:solidFill>
                <a:latin typeface="Times New Roman"/>
                <a:ea typeface="Times New Roman"/>
                <a:cs typeface="Times New Roman"/>
                <a:sym typeface="Times New Roman"/>
              </a:rPr>
              <a:t> Link: </a:t>
            </a:r>
            <a:r>
              <a:rPr lang="en-US" sz="3200" dirty="0">
                <a:solidFill>
                  <a:schemeClr val="dk1"/>
                </a:solidFill>
                <a:latin typeface="Times New Roman"/>
                <a:ea typeface="Times New Roman"/>
                <a:cs typeface="Times New Roman"/>
                <a:sym typeface="Times New Roman"/>
                <a:hlinkClick r:id="rId6"/>
              </a:rPr>
              <a:t>https://github.com/anshbytecode/DoctorAiadvance</a:t>
            </a:r>
            <a:endParaRPr lang="en-US" sz="3200" dirty="0">
              <a:solidFill>
                <a:schemeClr val="dk1"/>
              </a:solidFill>
              <a:latin typeface="Times New Roman"/>
              <a:ea typeface="Times New Roman"/>
              <a:cs typeface="Times New Roman"/>
              <a:sym typeface="Times New Roman"/>
            </a:endParaRPr>
          </a:p>
          <a:p>
            <a:pPr marL="457196" algn="just"/>
            <a:endParaRPr lang="en-US" sz="3200" dirty="0">
              <a:solidFill>
                <a:schemeClr val="dk1"/>
              </a:solidFill>
              <a:latin typeface="Times New Roman"/>
              <a:ea typeface="Times New Roman"/>
              <a:cs typeface="Times New Roman"/>
              <a:sym typeface="Times New Roman"/>
            </a:endParaRPr>
          </a:p>
          <a:p>
            <a:pPr marL="457196" algn="just"/>
            <a:r>
              <a:rPr lang="en-US" sz="3600" dirty="0">
                <a:solidFill>
                  <a:schemeClr val="dk1"/>
                </a:solidFill>
                <a:latin typeface="Times New Roman"/>
                <a:ea typeface="Times New Roman"/>
                <a:cs typeface="Times New Roman"/>
                <a:sym typeface="Times New Roman"/>
              </a:rPr>
              <a:t>This Topic got selected at </a:t>
            </a:r>
            <a:r>
              <a:rPr lang="en-US" sz="3600" b="1" dirty="0">
                <a:solidFill>
                  <a:schemeClr val="dk1"/>
                </a:solidFill>
                <a:latin typeface="Times New Roman"/>
                <a:ea typeface="Times New Roman"/>
                <a:cs typeface="Times New Roman"/>
                <a:sym typeface="Times New Roman"/>
              </a:rPr>
              <a:t>IIT Delhi </a:t>
            </a:r>
            <a:r>
              <a:rPr lang="en-US" sz="3600" dirty="0">
                <a:solidFill>
                  <a:schemeClr val="dk1"/>
                </a:solidFill>
                <a:latin typeface="Times New Roman"/>
                <a:ea typeface="Times New Roman"/>
                <a:cs typeface="Times New Roman"/>
                <a:sym typeface="Times New Roman"/>
              </a:rPr>
              <a:t>, and we were </a:t>
            </a:r>
            <a:r>
              <a:rPr lang="en-US" sz="3600" b="1" dirty="0">
                <a:solidFill>
                  <a:schemeClr val="dk1"/>
                </a:solidFill>
                <a:latin typeface="Times New Roman"/>
                <a:ea typeface="Times New Roman"/>
                <a:cs typeface="Times New Roman"/>
                <a:sym typeface="Times New Roman"/>
              </a:rPr>
              <a:t>Finalist at IIT Delhi </a:t>
            </a:r>
            <a:r>
              <a:rPr lang="en-US" sz="3600" b="1" dirty="0" err="1">
                <a:solidFill>
                  <a:schemeClr val="dk1"/>
                </a:solidFill>
                <a:latin typeface="Times New Roman"/>
                <a:ea typeface="Times New Roman"/>
                <a:cs typeface="Times New Roman"/>
                <a:sym typeface="Times New Roman"/>
              </a:rPr>
              <a:t>Hackathon</a:t>
            </a:r>
            <a:r>
              <a:rPr lang="en-US" sz="3600" dirty="0">
                <a:solidFill>
                  <a:schemeClr val="dk1"/>
                </a:solidFill>
                <a:latin typeface="Times New Roman"/>
                <a:ea typeface="Times New Roman"/>
                <a:cs typeface="Times New Roman"/>
                <a:sym typeface="Times New Roman"/>
              </a:rPr>
              <a:t>.</a:t>
            </a:r>
          </a:p>
          <a:p>
            <a:pPr marL="457196" algn="just"/>
            <a:r>
              <a:rPr lang="en-US" sz="3600" dirty="0">
                <a:solidFill>
                  <a:schemeClr val="dk1"/>
                </a:solidFill>
                <a:latin typeface="Times New Roman"/>
                <a:ea typeface="Times New Roman"/>
                <a:cs typeface="Times New Roman"/>
                <a:sym typeface="Times New Roman"/>
              </a:rPr>
              <a:t>We have made this project </a:t>
            </a:r>
            <a:r>
              <a:rPr lang="en-US" sz="3600" dirty="0" err="1">
                <a:solidFill>
                  <a:schemeClr val="dk1"/>
                </a:solidFill>
                <a:latin typeface="Times New Roman"/>
                <a:ea typeface="Times New Roman"/>
                <a:cs typeface="Times New Roman"/>
                <a:sym typeface="Times New Roman"/>
              </a:rPr>
              <a:t>frontend,backend</a:t>
            </a:r>
            <a:r>
              <a:rPr lang="en-US" sz="3600" dirty="0">
                <a:solidFill>
                  <a:schemeClr val="dk1"/>
                </a:solidFill>
                <a:latin typeface="Times New Roman"/>
                <a:ea typeface="Times New Roman"/>
                <a:cs typeface="Times New Roman"/>
                <a:sym typeface="Times New Roman"/>
              </a:rPr>
              <a:t> and made it </a:t>
            </a:r>
            <a:r>
              <a:rPr lang="en-US" sz="3600" dirty="0" err="1">
                <a:solidFill>
                  <a:schemeClr val="dk1"/>
                </a:solidFill>
                <a:latin typeface="Times New Roman"/>
                <a:ea typeface="Times New Roman"/>
                <a:cs typeface="Times New Roman"/>
                <a:sym typeface="Times New Roman"/>
              </a:rPr>
              <a:t>upto</a:t>
            </a:r>
            <a:r>
              <a:rPr lang="en-US" sz="3600" dirty="0">
                <a:solidFill>
                  <a:schemeClr val="dk1"/>
                </a:solidFill>
                <a:latin typeface="Times New Roman"/>
                <a:ea typeface="Times New Roman"/>
                <a:cs typeface="Times New Roman"/>
                <a:sym typeface="Times New Roman"/>
              </a:rPr>
              <a:t> web3 and integrated into android studio as well, and </a:t>
            </a:r>
            <a:r>
              <a:rPr lang="en-US" sz="3600" dirty="0" smtClean="0">
                <a:solidFill>
                  <a:schemeClr val="dk1"/>
                </a:solidFill>
                <a:latin typeface="Times New Roman"/>
                <a:ea typeface="Times New Roman"/>
                <a:cs typeface="Times New Roman"/>
                <a:sym typeface="Times New Roman"/>
              </a:rPr>
              <a:t>made </a:t>
            </a:r>
            <a:r>
              <a:rPr lang="en-US" sz="3600" dirty="0" err="1">
                <a:solidFill>
                  <a:schemeClr val="dk1"/>
                </a:solidFill>
                <a:latin typeface="Times New Roman"/>
                <a:ea typeface="Times New Roman"/>
                <a:cs typeface="Times New Roman"/>
                <a:sym typeface="Times New Roman"/>
              </a:rPr>
              <a:t>apk</a:t>
            </a:r>
            <a:r>
              <a:rPr lang="en-US" sz="3600">
                <a:solidFill>
                  <a:schemeClr val="dk1"/>
                </a:solidFill>
                <a:latin typeface="Times New Roman"/>
                <a:ea typeface="Times New Roman"/>
                <a:cs typeface="Times New Roman"/>
                <a:sym typeface="Times New Roman"/>
              </a:rPr>
              <a:t> </a:t>
            </a:r>
            <a:r>
              <a:rPr lang="en-US" sz="3600" smtClean="0">
                <a:solidFill>
                  <a:schemeClr val="dk1"/>
                </a:solidFill>
                <a:latin typeface="Times New Roman"/>
                <a:ea typeface="Times New Roman"/>
                <a:cs typeface="Times New Roman"/>
                <a:sym typeface="Times New Roman"/>
              </a:rPr>
              <a:t>out of </a:t>
            </a:r>
            <a:r>
              <a:rPr lang="en-US" sz="3600" dirty="0">
                <a:solidFill>
                  <a:schemeClr val="dk1"/>
                </a:solidFill>
                <a:latin typeface="Times New Roman"/>
                <a:ea typeface="Times New Roman"/>
                <a:cs typeface="Times New Roman"/>
                <a:sym typeface="Times New Roman"/>
              </a:rPr>
              <a:t>it and now it is working on mobile phones as well. </a:t>
            </a:r>
            <a:r>
              <a:rPr lang="en-US" sz="3600" dirty="0" smtClean="0">
                <a:solidFill>
                  <a:schemeClr val="dk1"/>
                </a:solidFill>
                <a:latin typeface="Times New Roman"/>
                <a:ea typeface="Times New Roman"/>
                <a:cs typeface="Times New Roman"/>
                <a:sym typeface="Times New Roman"/>
              </a:rPr>
              <a:t>Also participated in various competitions at </a:t>
            </a:r>
            <a:r>
              <a:rPr lang="en-US" sz="3600" b="1" dirty="0" smtClean="0">
                <a:solidFill>
                  <a:schemeClr val="dk1"/>
                </a:solidFill>
                <a:latin typeface="Times New Roman"/>
                <a:ea typeface="Times New Roman"/>
                <a:cs typeface="Times New Roman"/>
                <a:sym typeface="Times New Roman"/>
              </a:rPr>
              <a:t>IIT Bombay</a:t>
            </a:r>
            <a:r>
              <a:rPr lang="en-US" sz="3600" dirty="0" smtClean="0">
                <a:solidFill>
                  <a:schemeClr val="dk1"/>
                </a:solidFill>
                <a:latin typeface="Times New Roman"/>
                <a:ea typeface="Times New Roman"/>
                <a:cs typeface="Times New Roman"/>
                <a:sym typeface="Times New Roman"/>
              </a:rPr>
              <a:t>.</a:t>
            </a:r>
            <a:endParaRPr lang="en-US" sz="3600" dirty="0">
              <a:solidFill>
                <a:schemeClr val="dk1"/>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96</TotalTime>
  <Words>1259</Words>
  <Application>Microsoft Office PowerPoint</Application>
  <PresentationFormat>Custom</PresentationFormat>
  <Paragraphs>135</Paragraphs>
  <Slides>23</Slides>
  <Notes>19</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Civic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Bhilare</dc:creator>
  <cp:lastModifiedBy>hp</cp:lastModifiedBy>
  <cp:revision>35</cp:revision>
  <dcterms:created xsi:type="dcterms:W3CDTF">2006-08-16T00:00:00Z</dcterms:created>
  <dcterms:modified xsi:type="dcterms:W3CDTF">2025-12-15T12:42:59Z</dcterms:modified>
</cp:coreProperties>
</file>